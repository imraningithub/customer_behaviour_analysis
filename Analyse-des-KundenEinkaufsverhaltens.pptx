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1430000" cy="10020300"/>
  <p:notesSz cx="11430000" cy="100203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57250" y="1998027"/>
            <a:ext cx="9715500" cy="13535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1" i="0">
                <a:solidFill>
                  <a:srgbClr val="1F1E1E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714500" y="3609340"/>
            <a:ext cx="8001000" cy="16113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1" i="0">
                <a:solidFill>
                  <a:srgbClr val="1F1E1E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1" i="0">
                <a:solidFill>
                  <a:srgbClr val="1F1E1E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7150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88645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3"/>
            <a:ext cx="4286250" cy="643864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1" i="0">
                <a:solidFill>
                  <a:srgbClr val="1F1E1E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45425" y="406986"/>
            <a:ext cx="7922083" cy="10820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1" i="0">
                <a:solidFill>
                  <a:srgbClr val="1F1E1E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71500" y="1482407"/>
            <a:ext cx="1028700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886200" y="5994082"/>
            <a:ext cx="36576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715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2296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hyperlink" Target="https://gamma.app/?utm_source=made-with-gamma" TargetMode="External"/><Relationship Id="rId5" Type="http://schemas.openxmlformats.org/officeDocument/2006/relationships/image" Target="../media/image2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jp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Relationship Id="rId5" Type="http://schemas.openxmlformats.org/officeDocument/2006/relationships/image" Target="../media/image14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jp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43562" y="1873250"/>
            <a:ext cx="5807075" cy="16065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175"/>
              <a:t>Analyse</a:t>
            </a:r>
            <a:r>
              <a:rPr dirty="0" spc="-355"/>
              <a:t> </a:t>
            </a:r>
            <a:r>
              <a:rPr dirty="0" spc="-25"/>
              <a:t>des</a:t>
            </a:r>
          </a:p>
          <a:p>
            <a:pPr marL="12700" marR="5080">
              <a:lnSpc>
                <a:spcPct val="104500"/>
              </a:lnSpc>
            </a:pPr>
            <a:r>
              <a:rPr dirty="0" spc="-165"/>
              <a:t>K</a:t>
            </a:r>
            <a:r>
              <a:rPr dirty="0" spc="-100"/>
              <a:t>unden</a:t>
            </a:r>
            <a:r>
              <a:rPr dirty="0" sz="200" spc="-100" b="0">
                <a:latin typeface="Ink Free"/>
                <a:cs typeface="Ink Free"/>
              </a:rPr>
              <a:t>-</a:t>
            </a:r>
            <a:r>
              <a:rPr dirty="0" spc="-140"/>
              <a:t>Einkaufsverhalten </a:t>
            </a:r>
            <a:r>
              <a:rPr dirty="0" spc="-50"/>
              <a:t>s</a:t>
            </a:r>
            <a:endParaRPr sz="200">
              <a:latin typeface="Ink Free"/>
              <a:cs typeface="Ink Free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4843562" y="3687000"/>
            <a:ext cx="5741035" cy="81597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 marR="5080">
              <a:lnSpc>
                <a:spcPct val="137500"/>
              </a:lnSpc>
              <a:spcBef>
                <a:spcPts val="130"/>
              </a:spcBef>
            </a:pPr>
            <a:r>
              <a:rPr dirty="0" sz="1250" spc="-10">
                <a:solidFill>
                  <a:srgbClr val="3B3434"/>
                </a:solidFill>
                <a:latin typeface="Verdana"/>
                <a:cs typeface="Verdana"/>
              </a:rPr>
              <a:t>Projektziel:</a:t>
            </a:r>
            <a:r>
              <a:rPr dirty="0" sz="1250" spc="-8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1250">
                <a:solidFill>
                  <a:srgbClr val="3B3434"/>
                </a:solidFill>
                <a:latin typeface="Verdana"/>
                <a:cs typeface="Verdana"/>
              </a:rPr>
              <a:t>Erkenntnisse</a:t>
            </a:r>
            <a:r>
              <a:rPr dirty="0" sz="1250" spc="-75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Verdana"/>
                <a:cs typeface="Verdana"/>
              </a:rPr>
              <a:t>aus</a:t>
            </a:r>
            <a:r>
              <a:rPr dirty="0" sz="1250" spc="-75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1250">
                <a:solidFill>
                  <a:srgbClr val="3B3434"/>
                </a:solidFill>
                <a:latin typeface="Verdana"/>
                <a:cs typeface="Verdana"/>
              </a:rPr>
              <a:t>3.900</a:t>
            </a:r>
            <a:r>
              <a:rPr dirty="0" sz="1250" spc="-8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1250">
                <a:solidFill>
                  <a:srgbClr val="3B3434"/>
                </a:solidFill>
                <a:latin typeface="Verdana"/>
                <a:cs typeface="Verdana"/>
              </a:rPr>
              <a:t>Transaktionen</a:t>
            </a:r>
            <a:r>
              <a:rPr dirty="0" sz="1250" spc="-75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1250" spc="-35">
                <a:solidFill>
                  <a:srgbClr val="3B3434"/>
                </a:solidFill>
                <a:latin typeface="Verdana"/>
                <a:cs typeface="Verdana"/>
              </a:rPr>
              <a:t>zu</a:t>
            </a:r>
            <a:r>
              <a:rPr dirty="0" sz="1250" spc="-75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Verdana"/>
                <a:cs typeface="Verdana"/>
              </a:rPr>
              <a:t>Ausgabemustern, </a:t>
            </a:r>
            <a:r>
              <a:rPr dirty="0" sz="1250" spc="10">
                <a:solidFill>
                  <a:srgbClr val="3B3434"/>
                </a:solidFill>
                <a:latin typeface="Verdana"/>
                <a:cs typeface="Verdana"/>
              </a:rPr>
              <a:t>Segmenten,</a:t>
            </a:r>
            <a:r>
              <a:rPr dirty="0" sz="1250" spc="-6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1250" spc="10">
                <a:solidFill>
                  <a:srgbClr val="3B3434"/>
                </a:solidFill>
                <a:latin typeface="Verdana"/>
                <a:cs typeface="Verdana"/>
              </a:rPr>
              <a:t>Produktpräferenzen</a:t>
            </a:r>
            <a:r>
              <a:rPr dirty="0" sz="1250" spc="-6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1250" spc="10">
                <a:solidFill>
                  <a:srgbClr val="3B3434"/>
                </a:solidFill>
                <a:latin typeface="Verdana"/>
                <a:cs typeface="Verdana"/>
              </a:rPr>
              <a:t>und</a:t>
            </a:r>
            <a:r>
              <a:rPr dirty="0" sz="1250" spc="-6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1250" spc="45">
                <a:solidFill>
                  <a:srgbClr val="3B3434"/>
                </a:solidFill>
                <a:latin typeface="Verdana"/>
                <a:cs typeface="Verdana"/>
              </a:rPr>
              <a:t>Abonnement</a:t>
            </a:r>
            <a:r>
              <a:rPr dirty="0" sz="100" spc="45">
                <a:solidFill>
                  <a:srgbClr val="3B3434"/>
                </a:solidFill>
                <a:latin typeface="Ink Free"/>
                <a:cs typeface="Ink Free"/>
              </a:rPr>
              <a:t>-</a:t>
            </a:r>
            <a:r>
              <a:rPr dirty="0" sz="1250">
                <a:solidFill>
                  <a:srgbClr val="3B3434"/>
                </a:solidFill>
                <a:latin typeface="Verdana"/>
                <a:cs typeface="Verdana"/>
              </a:rPr>
              <a:t>Verhalten</a:t>
            </a:r>
            <a:r>
              <a:rPr dirty="0" sz="1250" spc="-6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1250" spc="-25">
                <a:solidFill>
                  <a:srgbClr val="3B3434"/>
                </a:solidFill>
                <a:latin typeface="Verdana"/>
                <a:cs typeface="Verdana"/>
              </a:rPr>
              <a:t>für </a:t>
            </a:r>
            <a:r>
              <a:rPr dirty="0" sz="1250" spc="10">
                <a:solidFill>
                  <a:srgbClr val="3B3434"/>
                </a:solidFill>
                <a:latin typeface="Verdana"/>
                <a:cs typeface="Verdana"/>
              </a:rPr>
              <a:t>strategische</a:t>
            </a:r>
            <a:r>
              <a:rPr dirty="0" sz="1250" spc="114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Verdana"/>
                <a:cs typeface="Verdana"/>
              </a:rPr>
              <a:t>Entscheidungen.</a:t>
            </a:r>
            <a:endParaRPr sz="1250">
              <a:latin typeface="Verdana"/>
              <a:cs typeface="Verdana"/>
            </a:endParaRPr>
          </a:p>
        </p:txBody>
      </p:sp>
      <p:pic>
        <p:nvPicPr>
          <p:cNvPr id="4" name="object 4" descr="">
            <a:hlinkClick r:id="rId2"/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7143750" y="253"/>
            <a:ext cx="4286250" cy="6438900"/>
            <a:chOff x="7143750" y="253"/>
            <a:chExt cx="4286250" cy="64389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43750" y="253"/>
              <a:ext cx="4286250" cy="6438645"/>
            </a:xfrm>
            <a:prstGeom prst="rect">
              <a:avLst/>
            </a:prstGeom>
          </p:spPr>
        </p:pic>
        <p:pic>
          <p:nvPicPr>
            <p:cNvPr id="4" name="object 4" descr="">
              <a:hlinkClick r:id="rId3"/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580244" y="5926073"/>
              <a:ext cx="1754504" cy="41910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57311" y="1616075"/>
            <a:ext cx="4975225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195"/>
              <a:t>Datensatz</a:t>
            </a:r>
            <a:r>
              <a:rPr dirty="0" spc="-400"/>
              <a:t> </a:t>
            </a:r>
            <a:r>
              <a:rPr dirty="0" spc="665"/>
              <a:t>4</a:t>
            </a:r>
            <a:r>
              <a:rPr dirty="0" spc="-395"/>
              <a:t> </a:t>
            </a:r>
            <a:r>
              <a:rPr dirty="0" spc="-55"/>
              <a:t>Überblick</a:t>
            </a:r>
          </a:p>
        </p:txBody>
      </p:sp>
      <p:grpSp>
        <p:nvGrpSpPr>
          <p:cNvPr id="6" name="object 6" descr=""/>
          <p:cNvGrpSpPr/>
          <p:nvPr/>
        </p:nvGrpSpPr>
        <p:grpSpPr>
          <a:xfrm>
            <a:off x="571500" y="2428874"/>
            <a:ext cx="2914650" cy="1228725"/>
            <a:chOff x="571500" y="2428874"/>
            <a:chExt cx="2914650" cy="1228725"/>
          </a:xfrm>
        </p:grpSpPr>
        <p:sp>
          <p:nvSpPr>
            <p:cNvPr id="7" name="object 7" descr=""/>
            <p:cNvSpPr/>
            <p:nvPr/>
          </p:nvSpPr>
          <p:spPr>
            <a:xfrm>
              <a:off x="576262" y="2433637"/>
              <a:ext cx="2905125" cy="1219200"/>
            </a:xfrm>
            <a:custGeom>
              <a:avLst/>
              <a:gdLst/>
              <a:ahLst/>
              <a:cxnLst/>
              <a:rect l="l" t="t" r="r" b="b"/>
              <a:pathLst>
                <a:path w="2905125" h="1219200">
                  <a:moveTo>
                    <a:pt x="2856306" y="0"/>
                  </a:moveTo>
                  <a:lnTo>
                    <a:pt x="48816" y="0"/>
                  </a:lnTo>
                  <a:lnTo>
                    <a:pt x="45417" y="330"/>
                  </a:lnTo>
                  <a:lnTo>
                    <a:pt x="10711" y="20370"/>
                  </a:lnTo>
                  <a:lnTo>
                    <a:pt x="0" y="48806"/>
                  </a:lnTo>
                  <a:lnTo>
                    <a:pt x="0" y="1166952"/>
                  </a:lnTo>
                  <a:lnTo>
                    <a:pt x="0" y="1170381"/>
                  </a:lnTo>
                  <a:lnTo>
                    <a:pt x="17725" y="1206322"/>
                  </a:lnTo>
                  <a:lnTo>
                    <a:pt x="48816" y="1219200"/>
                  </a:lnTo>
                  <a:lnTo>
                    <a:pt x="2856306" y="1219200"/>
                  </a:lnTo>
                  <a:lnTo>
                    <a:pt x="2892247" y="1201470"/>
                  </a:lnTo>
                  <a:lnTo>
                    <a:pt x="2905125" y="1170381"/>
                  </a:lnTo>
                  <a:lnTo>
                    <a:pt x="2905125" y="48806"/>
                  </a:lnTo>
                  <a:lnTo>
                    <a:pt x="2887395" y="12877"/>
                  </a:lnTo>
                  <a:lnTo>
                    <a:pt x="2859709" y="330"/>
                  </a:lnTo>
                  <a:lnTo>
                    <a:pt x="2856306" y="0"/>
                  </a:lnTo>
                  <a:close/>
                </a:path>
              </a:pathLst>
            </a:custGeom>
            <a:solidFill>
              <a:srgbClr val="F9D2D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576262" y="2433637"/>
              <a:ext cx="2905125" cy="1219200"/>
            </a:xfrm>
            <a:custGeom>
              <a:avLst/>
              <a:gdLst/>
              <a:ahLst/>
              <a:cxnLst/>
              <a:rect l="l" t="t" r="r" b="b"/>
              <a:pathLst>
                <a:path w="2905125" h="1219200">
                  <a:moveTo>
                    <a:pt x="0" y="1166952"/>
                  </a:moveTo>
                  <a:lnTo>
                    <a:pt x="0" y="52247"/>
                  </a:lnTo>
                  <a:lnTo>
                    <a:pt x="0" y="48806"/>
                  </a:lnTo>
                  <a:lnTo>
                    <a:pt x="332" y="45415"/>
                  </a:lnTo>
                  <a:lnTo>
                    <a:pt x="1002" y="42049"/>
                  </a:lnTo>
                  <a:lnTo>
                    <a:pt x="1671" y="38684"/>
                  </a:lnTo>
                  <a:lnTo>
                    <a:pt x="2664" y="35420"/>
                  </a:lnTo>
                  <a:lnTo>
                    <a:pt x="3978" y="32258"/>
                  </a:lnTo>
                  <a:lnTo>
                    <a:pt x="5288" y="29083"/>
                  </a:lnTo>
                  <a:lnTo>
                    <a:pt x="15304" y="15303"/>
                  </a:lnTo>
                  <a:lnTo>
                    <a:pt x="17725" y="12877"/>
                  </a:lnTo>
                  <a:lnTo>
                    <a:pt x="20364" y="10706"/>
                  </a:lnTo>
                  <a:lnTo>
                    <a:pt x="23216" y="8801"/>
                  </a:lnTo>
                  <a:lnTo>
                    <a:pt x="26069" y="6896"/>
                  </a:lnTo>
                  <a:lnTo>
                    <a:pt x="29080" y="5283"/>
                  </a:lnTo>
                  <a:lnTo>
                    <a:pt x="32251" y="3975"/>
                  </a:lnTo>
                  <a:lnTo>
                    <a:pt x="35421" y="2667"/>
                  </a:lnTo>
                  <a:lnTo>
                    <a:pt x="38685" y="1676"/>
                  </a:lnTo>
                  <a:lnTo>
                    <a:pt x="42053" y="1003"/>
                  </a:lnTo>
                  <a:lnTo>
                    <a:pt x="45417" y="330"/>
                  </a:lnTo>
                  <a:lnTo>
                    <a:pt x="48816" y="0"/>
                  </a:lnTo>
                  <a:lnTo>
                    <a:pt x="52243" y="0"/>
                  </a:lnTo>
                  <a:lnTo>
                    <a:pt x="2852877" y="0"/>
                  </a:lnTo>
                  <a:lnTo>
                    <a:pt x="2856306" y="0"/>
                  </a:lnTo>
                  <a:lnTo>
                    <a:pt x="2859709" y="330"/>
                  </a:lnTo>
                  <a:lnTo>
                    <a:pt x="2894418" y="20370"/>
                  </a:lnTo>
                  <a:lnTo>
                    <a:pt x="2901149" y="32258"/>
                  </a:lnTo>
                  <a:lnTo>
                    <a:pt x="2902458" y="35420"/>
                  </a:lnTo>
                  <a:lnTo>
                    <a:pt x="2903448" y="38684"/>
                  </a:lnTo>
                  <a:lnTo>
                    <a:pt x="2904121" y="42049"/>
                  </a:lnTo>
                  <a:lnTo>
                    <a:pt x="2904782" y="45415"/>
                  </a:lnTo>
                  <a:lnTo>
                    <a:pt x="2905125" y="48806"/>
                  </a:lnTo>
                  <a:lnTo>
                    <a:pt x="2905125" y="52247"/>
                  </a:lnTo>
                  <a:lnTo>
                    <a:pt x="2905125" y="1166952"/>
                  </a:lnTo>
                  <a:lnTo>
                    <a:pt x="2905125" y="1170381"/>
                  </a:lnTo>
                  <a:lnTo>
                    <a:pt x="2904782" y="1173784"/>
                  </a:lnTo>
                  <a:lnTo>
                    <a:pt x="2904121" y="1177150"/>
                  </a:lnTo>
                  <a:lnTo>
                    <a:pt x="2903448" y="1180515"/>
                  </a:lnTo>
                  <a:lnTo>
                    <a:pt x="2902458" y="1183779"/>
                  </a:lnTo>
                  <a:lnTo>
                    <a:pt x="2901149" y="1186942"/>
                  </a:lnTo>
                  <a:lnTo>
                    <a:pt x="2899841" y="1190117"/>
                  </a:lnTo>
                  <a:lnTo>
                    <a:pt x="2889821" y="1203896"/>
                  </a:lnTo>
                  <a:lnTo>
                    <a:pt x="2887395" y="1206322"/>
                  </a:lnTo>
                  <a:lnTo>
                    <a:pt x="2884754" y="1208493"/>
                  </a:lnTo>
                  <a:lnTo>
                    <a:pt x="2881896" y="1210398"/>
                  </a:lnTo>
                  <a:lnTo>
                    <a:pt x="2879051" y="1212303"/>
                  </a:lnTo>
                  <a:lnTo>
                    <a:pt x="2856306" y="1219200"/>
                  </a:lnTo>
                  <a:lnTo>
                    <a:pt x="2852877" y="1219200"/>
                  </a:lnTo>
                  <a:lnTo>
                    <a:pt x="52243" y="1219200"/>
                  </a:lnTo>
                  <a:lnTo>
                    <a:pt x="48816" y="1219200"/>
                  </a:lnTo>
                  <a:lnTo>
                    <a:pt x="45417" y="1218869"/>
                  </a:lnTo>
                  <a:lnTo>
                    <a:pt x="42053" y="1218196"/>
                  </a:lnTo>
                  <a:lnTo>
                    <a:pt x="38685" y="1217523"/>
                  </a:lnTo>
                  <a:lnTo>
                    <a:pt x="23216" y="1210398"/>
                  </a:lnTo>
                  <a:lnTo>
                    <a:pt x="20364" y="1208493"/>
                  </a:lnTo>
                  <a:lnTo>
                    <a:pt x="17725" y="1206322"/>
                  </a:lnTo>
                  <a:lnTo>
                    <a:pt x="15304" y="1203896"/>
                  </a:lnTo>
                  <a:lnTo>
                    <a:pt x="12879" y="1201470"/>
                  </a:lnTo>
                  <a:lnTo>
                    <a:pt x="0" y="1170381"/>
                  </a:lnTo>
                  <a:lnTo>
                    <a:pt x="0" y="1166952"/>
                  </a:lnTo>
                  <a:close/>
                </a:path>
              </a:pathLst>
            </a:custGeom>
            <a:ln w="9525">
              <a:solidFill>
                <a:srgbClr val="DFB7B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/>
          <p:nvPr/>
        </p:nvSpPr>
        <p:spPr>
          <a:xfrm>
            <a:off x="729654" y="2573337"/>
            <a:ext cx="1971675" cy="6153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10" b="1">
                <a:solidFill>
                  <a:srgbClr val="3B3434"/>
                </a:solidFill>
                <a:latin typeface="Verdana"/>
                <a:cs typeface="Verdana"/>
              </a:rPr>
              <a:t>Cröße</a:t>
            </a:r>
            <a:endParaRPr sz="16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120"/>
              </a:spcBef>
            </a:pPr>
            <a:r>
              <a:rPr dirty="0" sz="1250">
                <a:solidFill>
                  <a:srgbClr val="3B3434"/>
                </a:solidFill>
                <a:latin typeface="Verdana"/>
                <a:cs typeface="Verdana"/>
              </a:rPr>
              <a:t>3.900</a:t>
            </a:r>
            <a:r>
              <a:rPr dirty="0" sz="1250" spc="-9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Verdana"/>
                <a:cs typeface="Verdana"/>
              </a:rPr>
              <a:t>Zeilen,</a:t>
            </a:r>
            <a:r>
              <a:rPr dirty="0" sz="1250" spc="-85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1250" spc="-145">
                <a:solidFill>
                  <a:srgbClr val="3B3434"/>
                </a:solidFill>
                <a:latin typeface="Verdana"/>
                <a:cs typeface="Verdana"/>
              </a:rPr>
              <a:t>18</a:t>
            </a:r>
            <a:r>
              <a:rPr dirty="0" sz="1250" spc="-85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Verdana"/>
                <a:cs typeface="Verdana"/>
              </a:rPr>
              <a:t>Spalten</a:t>
            </a:r>
            <a:endParaRPr sz="1250">
              <a:latin typeface="Verdana"/>
              <a:cs typeface="Verdana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3657600" y="2428874"/>
            <a:ext cx="2914650" cy="1228725"/>
            <a:chOff x="3657600" y="2428874"/>
            <a:chExt cx="2914650" cy="1228725"/>
          </a:xfrm>
        </p:grpSpPr>
        <p:sp>
          <p:nvSpPr>
            <p:cNvPr id="11" name="object 11" descr=""/>
            <p:cNvSpPr/>
            <p:nvPr/>
          </p:nvSpPr>
          <p:spPr>
            <a:xfrm>
              <a:off x="3662362" y="2433637"/>
              <a:ext cx="2905125" cy="1219200"/>
            </a:xfrm>
            <a:custGeom>
              <a:avLst/>
              <a:gdLst/>
              <a:ahLst/>
              <a:cxnLst/>
              <a:rect l="l" t="t" r="r" b="b"/>
              <a:pathLst>
                <a:path w="2905125" h="1219200">
                  <a:moveTo>
                    <a:pt x="2856306" y="0"/>
                  </a:moveTo>
                  <a:lnTo>
                    <a:pt x="48818" y="0"/>
                  </a:lnTo>
                  <a:lnTo>
                    <a:pt x="45415" y="330"/>
                  </a:lnTo>
                  <a:lnTo>
                    <a:pt x="10706" y="20370"/>
                  </a:lnTo>
                  <a:lnTo>
                    <a:pt x="0" y="48806"/>
                  </a:lnTo>
                  <a:lnTo>
                    <a:pt x="0" y="1166952"/>
                  </a:lnTo>
                  <a:lnTo>
                    <a:pt x="0" y="1170381"/>
                  </a:lnTo>
                  <a:lnTo>
                    <a:pt x="17729" y="1206322"/>
                  </a:lnTo>
                  <a:lnTo>
                    <a:pt x="48818" y="1219200"/>
                  </a:lnTo>
                  <a:lnTo>
                    <a:pt x="2856306" y="1219200"/>
                  </a:lnTo>
                  <a:lnTo>
                    <a:pt x="2892247" y="1201470"/>
                  </a:lnTo>
                  <a:lnTo>
                    <a:pt x="2905125" y="1170381"/>
                  </a:lnTo>
                  <a:lnTo>
                    <a:pt x="2905125" y="48806"/>
                  </a:lnTo>
                  <a:lnTo>
                    <a:pt x="2887395" y="12877"/>
                  </a:lnTo>
                  <a:lnTo>
                    <a:pt x="2859709" y="330"/>
                  </a:lnTo>
                  <a:lnTo>
                    <a:pt x="2856306" y="0"/>
                  </a:lnTo>
                  <a:close/>
                </a:path>
              </a:pathLst>
            </a:custGeom>
            <a:solidFill>
              <a:srgbClr val="F9D2D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3662362" y="2433637"/>
              <a:ext cx="2905125" cy="1219200"/>
            </a:xfrm>
            <a:custGeom>
              <a:avLst/>
              <a:gdLst/>
              <a:ahLst/>
              <a:cxnLst/>
              <a:rect l="l" t="t" r="r" b="b"/>
              <a:pathLst>
                <a:path w="2905125" h="1219200">
                  <a:moveTo>
                    <a:pt x="0" y="1166952"/>
                  </a:moveTo>
                  <a:lnTo>
                    <a:pt x="0" y="52247"/>
                  </a:lnTo>
                  <a:lnTo>
                    <a:pt x="0" y="48806"/>
                  </a:lnTo>
                  <a:lnTo>
                    <a:pt x="330" y="45415"/>
                  </a:lnTo>
                  <a:lnTo>
                    <a:pt x="1003" y="42049"/>
                  </a:lnTo>
                  <a:lnTo>
                    <a:pt x="1676" y="38684"/>
                  </a:lnTo>
                  <a:lnTo>
                    <a:pt x="2667" y="35420"/>
                  </a:lnTo>
                  <a:lnTo>
                    <a:pt x="3975" y="32258"/>
                  </a:lnTo>
                  <a:lnTo>
                    <a:pt x="5283" y="29083"/>
                  </a:lnTo>
                  <a:lnTo>
                    <a:pt x="35420" y="2667"/>
                  </a:lnTo>
                  <a:lnTo>
                    <a:pt x="48818" y="0"/>
                  </a:lnTo>
                  <a:lnTo>
                    <a:pt x="52247" y="0"/>
                  </a:lnTo>
                  <a:lnTo>
                    <a:pt x="2852877" y="0"/>
                  </a:lnTo>
                  <a:lnTo>
                    <a:pt x="2856306" y="0"/>
                  </a:lnTo>
                  <a:lnTo>
                    <a:pt x="2859709" y="330"/>
                  </a:lnTo>
                  <a:lnTo>
                    <a:pt x="2863075" y="1003"/>
                  </a:lnTo>
                  <a:lnTo>
                    <a:pt x="2866440" y="1676"/>
                  </a:lnTo>
                  <a:lnTo>
                    <a:pt x="2889821" y="15303"/>
                  </a:lnTo>
                  <a:lnTo>
                    <a:pt x="2892247" y="17729"/>
                  </a:lnTo>
                  <a:lnTo>
                    <a:pt x="2901149" y="32258"/>
                  </a:lnTo>
                  <a:lnTo>
                    <a:pt x="2902458" y="35420"/>
                  </a:lnTo>
                  <a:lnTo>
                    <a:pt x="2903448" y="38684"/>
                  </a:lnTo>
                  <a:lnTo>
                    <a:pt x="2904121" y="42049"/>
                  </a:lnTo>
                  <a:lnTo>
                    <a:pt x="2904782" y="45415"/>
                  </a:lnTo>
                  <a:lnTo>
                    <a:pt x="2905125" y="48806"/>
                  </a:lnTo>
                  <a:lnTo>
                    <a:pt x="2905125" y="52247"/>
                  </a:lnTo>
                  <a:lnTo>
                    <a:pt x="2905125" y="1166952"/>
                  </a:lnTo>
                  <a:lnTo>
                    <a:pt x="2905125" y="1170381"/>
                  </a:lnTo>
                  <a:lnTo>
                    <a:pt x="2904782" y="1173784"/>
                  </a:lnTo>
                  <a:lnTo>
                    <a:pt x="2904121" y="1177150"/>
                  </a:lnTo>
                  <a:lnTo>
                    <a:pt x="2903448" y="1180515"/>
                  </a:lnTo>
                  <a:lnTo>
                    <a:pt x="2902458" y="1183779"/>
                  </a:lnTo>
                  <a:lnTo>
                    <a:pt x="2901149" y="1186942"/>
                  </a:lnTo>
                  <a:lnTo>
                    <a:pt x="2899841" y="1190117"/>
                  </a:lnTo>
                  <a:lnTo>
                    <a:pt x="2889821" y="1203896"/>
                  </a:lnTo>
                  <a:lnTo>
                    <a:pt x="2887395" y="1206322"/>
                  </a:lnTo>
                  <a:lnTo>
                    <a:pt x="2856306" y="1219200"/>
                  </a:lnTo>
                  <a:lnTo>
                    <a:pt x="2852877" y="1219200"/>
                  </a:lnTo>
                  <a:lnTo>
                    <a:pt x="52247" y="1219200"/>
                  </a:lnTo>
                  <a:lnTo>
                    <a:pt x="48818" y="1219200"/>
                  </a:lnTo>
                  <a:lnTo>
                    <a:pt x="45415" y="1218869"/>
                  </a:lnTo>
                  <a:lnTo>
                    <a:pt x="15303" y="1203896"/>
                  </a:lnTo>
                  <a:lnTo>
                    <a:pt x="12877" y="1201470"/>
                  </a:lnTo>
                  <a:lnTo>
                    <a:pt x="0" y="1170381"/>
                  </a:lnTo>
                  <a:lnTo>
                    <a:pt x="0" y="1166952"/>
                  </a:lnTo>
                  <a:close/>
                </a:path>
              </a:pathLst>
            </a:custGeom>
            <a:ln w="9525">
              <a:solidFill>
                <a:srgbClr val="DFB7B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/>
          <p:nvPr/>
        </p:nvSpPr>
        <p:spPr>
          <a:xfrm>
            <a:off x="3812921" y="2573337"/>
            <a:ext cx="2477135" cy="8820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45" b="1">
                <a:solidFill>
                  <a:srgbClr val="3B3434"/>
                </a:solidFill>
                <a:latin typeface="Verdana"/>
                <a:cs typeface="Verdana"/>
              </a:rPr>
              <a:t>Wichtige</a:t>
            </a:r>
            <a:r>
              <a:rPr dirty="0" sz="1650" spc="-130" b="1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1650" spc="-10" b="1">
                <a:solidFill>
                  <a:srgbClr val="3B3434"/>
                </a:solidFill>
                <a:latin typeface="Verdana"/>
                <a:cs typeface="Verdana"/>
              </a:rPr>
              <a:t>Merkmale</a:t>
            </a:r>
            <a:endParaRPr sz="1650">
              <a:latin typeface="Verdana"/>
              <a:cs typeface="Verdana"/>
            </a:endParaRPr>
          </a:p>
          <a:p>
            <a:pPr marL="12700" marR="5080">
              <a:lnSpc>
                <a:spcPct val="140000"/>
              </a:lnSpc>
              <a:spcBef>
                <a:spcPts val="520"/>
              </a:spcBef>
            </a:pPr>
            <a:r>
              <a:rPr dirty="0" sz="1250">
                <a:solidFill>
                  <a:srgbClr val="3B3434"/>
                </a:solidFill>
                <a:latin typeface="Verdana"/>
                <a:cs typeface="Verdana"/>
              </a:rPr>
              <a:t>Demografie,</a:t>
            </a:r>
            <a:r>
              <a:rPr dirty="0" sz="1250" spc="5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Verdana"/>
                <a:cs typeface="Verdana"/>
              </a:rPr>
              <a:t>Kaufdetails, Einkaufsverhalten,</a:t>
            </a:r>
            <a:r>
              <a:rPr dirty="0" sz="1250" spc="-35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1250" spc="85">
                <a:solidFill>
                  <a:srgbClr val="3B3434"/>
                </a:solidFill>
                <a:latin typeface="Verdana"/>
                <a:cs typeface="Verdana"/>
              </a:rPr>
              <a:t>Abo</a:t>
            </a:r>
            <a:r>
              <a:rPr dirty="0" sz="100" spc="85">
                <a:solidFill>
                  <a:srgbClr val="3B3434"/>
                </a:solidFill>
                <a:latin typeface="Ink Free"/>
                <a:cs typeface="Ink Free"/>
              </a:rPr>
              <a:t>-</a:t>
            </a:r>
            <a:r>
              <a:rPr dirty="0" sz="1250" spc="-10">
                <a:solidFill>
                  <a:srgbClr val="3B3434"/>
                </a:solidFill>
                <a:latin typeface="Verdana"/>
                <a:cs typeface="Verdana"/>
              </a:rPr>
              <a:t>Status</a:t>
            </a:r>
            <a:endParaRPr sz="1250">
              <a:latin typeface="Verdana"/>
              <a:cs typeface="Verdana"/>
            </a:endParaRPr>
          </a:p>
        </p:txBody>
      </p:sp>
      <p:grpSp>
        <p:nvGrpSpPr>
          <p:cNvPr id="14" name="object 14" descr=""/>
          <p:cNvGrpSpPr/>
          <p:nvPr/>
        </p:nvGrpSpPr>
        <p:grpSpPr>
          <a:xfrm>
            <a:off x="571500" y="3819525"/>
            <a:ext cx="6000750" cy="971550"/>
            <a:chOff x="571500" y="3819525"/>
            <a:chExt cx="6000750" cy="971550"/>
          </a:xfrm>
        </p:grpSpPr>
        <p:sp>
          <p:nvSpPr>
            <p:cNvPr id="15" name="object 15" descr=""/>
            <p:cNvSpPr/>
            <p:nvPr/>
          </p:nvSpPr>
          <p:spPr>
            <a:xfrm>
              <a:off x="576262" y="3824287"/>
              <a:ext cx="5991225" cy="962025"/>
            </a:xfrm>
            <a:custGeom>
              <a:avLst/>
              <a:gdLst/>
              <a:ahLst/>
              <a:cxnLst/>
              <a:rect l="l" t="t" r="r" b="b"/>
              <a:pathLst>
                <a:path w="5991225" h="962025">
                  <a:moveTo>
                    <a:pt x="5942406" y="0"/>
                  </a:moveTo>
                  <a:lnTo>
                    <a:pt x="48816" y="0"/>
                  </a:lnTo>
                  <a:lnTo>
                    <a:pt x="45417" y="330"/>
                  </a:lnTo>
                  <a:lnTo>
                    <a:pt x="10711" y="20370"/>
                  </a:lnTo>
                  <a:lnTo>
                    <a:pt x="0" y="48806"/>
                  </a:lnTo>
                  <a:lnTo>
                    <a:pt x="0" y="909777"/>
                  </a:lnTo>
                  <a:lnTo>
                    <a:pt x="0" y="913206"/>
                  </a:lnTo>
                  <a:lnTo>
                    <a:pt x="17725" y="949147"/>
                  </a:lnTo>
                  <a:lnTo>
                    <a:pt x="48816" y="962025"/>
                  </a:lnTo>
                  <a:lnTo>
                    <a:pt x="5942406" y="962025"/>
                  </a:lnTo>
                  <a:lnTo>
                    <a:pt x="5978347" y="944295"/>
                  </a:lnTo>
                  <a:lnTo>
                    <a:pt x="5991225" y="913206"/>
                  </a:lnTo>
                  <a:lnTo>
                    <a:pt x="5991225" y="48806"/>
                  </a:lnTo>
                  <a:lnTo>
                    <a:pt x="5973495" y="12877"/>
                  </a:lnTo>
                  <a:lnTo>
                    <a:pt x="5945809" y="330"/>
                  </a:lnTo>
                  <a:lnTo>
                    <a:pt x="5942406" y="0"/>
                  </a:lnTo>
                  <a:close/>
                </a:path>
              </a:pathLst>
            </a:custGeom>
            <a:solidFill>
              <a:srgbClr val="F9D2D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576262" y="3824287"/>
              <a:ext cx="5991225" cy="962025"/>
            </a:xfrm>
            <a:custGeom>
              <a:avLst/>
              <a:gdLst/>
              <a:ahLst/>
              <a:cxnLst/>
              <a:rect l="l" t="t" r="r" b="b"/>
              <a:pathLst>
                <a:path w="5991225" h="962025">
                  <a:moveTo>
                    <a:pt x="0" y="909777"/>
                  </a:moveTo>
                  <a:lnTo>
                    <a:pt x="0" y="52247"/>
                  </a:lnTo>
                  <a:lnTo>
                    <a:pt x="0" y="48806"/>
                  </a:lnTo>
                  <a:lnTo>
                    <a:pt x="332" y="45415"/>
                  </a:lnTo>
                  <a:lnTo>
                    <a:pt x="1002" y="42049"/>
                  </a:lnTo>
                  <a:lnTo>
                    <a:pt x="1671" y="38684"/>
                  </a:lnTo>
                  <a:lnTo>
                    <a:pt x="2664" y="35420"/>
                  </a:lnTo>
                  <a:lnTo>
                    <a:pt x="3978" y="32258"/>
                  </a:lnTo>
                  <a:lnTo>
                    <a:pt x="5288" y="29083"/>
                  </a:lnTo>
                  <a:lnTo>
                    <a:pt x="15304" y="15303"/>
                  </a:lnTo>
                  <a:lnTo>
                    <a:pt x="17725" y="12877"/>
                  </a:lnTo>
                  <a:lnTo>
                    <a:pt x="20364" y="10706"/>
                  </a:lnTo>
                  <a:lnTo>
                    <a:pt x="23216" y="8801"/>
                  </a:lnTo>
                  <a:lnTo>
                    <a:pt x="26069" y="6896"/>
                  </a:lnTo>
                  <a:lnTo>
                    <a:pt x="29080" y="5283"/>
                  </a:lnTo>
                  <a:lnTo>
                    <a:pt x="32251" y="3975"/>
                  </a:lnTo>
                  <a:lnTo>
                    <a:pt x="35421" y="2667"/>
                  </a:lnTo>
                  <a:lnTo>
                    <a:pt x="38685" y="1676"/>
                  </a:lnTo>
                  <a:lnTo>
                    <a:pt x="42053" y="1003"/>
                  </a:lnTo>
                  <a:lnTo>
                    <a:pt x="45417" y="330"/>
                  </a:lnTo>
                  <a:lnTo>
                    <a:pt x="48816" y="0"/>
                  </a:lnTo>
                  <a:lnTo>
                    <a:pt x="52243" y="0"/>
                  </a:lnTo>
                  <a:lnTo>
                    <a:pt x="5938977" y="0"/>
                  </a:lnTo>
                  <a:lnTo>
                    <a:pt x="5942406" y="0"/>
                  </a:lnTo>
                  <a:lnTo>
                    <a:pt x="5945809" y="330"/>
                  </a:lnTo>
                  <a:lnTo>
                    <a:pt x="5949175" y="1003"/>
                  </a:lnTo>
                  <a:lnTo>
                    <a:pt x="5952540" y="1676"/>
                  </a:lnTo>
                  <a:lnTo>
                    <a:pt x="5975921" y="15303"/>
                  </a:lnTo>
                  <a:lnTo>
                    <a:pt x="5978347" y="17729"/>
                  </a:lnTo>
                  <a:lnTo>
                    <a:pt x="5987249" y="32258"/>
                  </a:lnTo>
                  <a:lnTo>
                    <a:pt x="5988558" y="35420"/>
                  </a:lnTo>
                  <a:lnTo>
                    <a:pt x="5989548" y="38684"/>
                  </a:lnTo>
                  <a:lnTo>
                    <a:pt x="5990221" y="42049"/>
                  </a:lnTo>
                  <a:lnTo>
                    <a:pt x="5990882" y="45415"/>
                  </a:lnTo>
                  <a:lnTo>
                    <a:pt x="5991225" y="48806"/>
                  </a:lnTo>
                  <a:lnTo>
                    <a:pt x="5991225" y="52247"/>
                  </a:lnTo>
                  <a:lnTo>
                    <a:pt x="5991225" y="909777"/>
                  </a:lnTo>
                  <a:lnTo>
                    <a:pt x="5991225" y="913206"/>
                  </a:lnTo>
                  <a:lnTo>
                    <a:pt x="5990882" y="916609"/>
                  </a:lnTo>
                  <a:lnTo>
                    <a:pt x="5990221" y="919975"/>
                  </a:lnTo>
                  <a:lnTo>
                    <a:pt x="5989548" y="923340"/>
                  </a:lnTo>
                  <a:lnTo>
                    <a:pt x="5988558" y="926604"/>
                  </a:lnTo>
                  <a:lnTo>
                    <a:pt x="5987249" y="929767"/>
                  </a:lnTo>
                  <a:lnTo>
                    <a:pt x="5985941" y="932942"/>
                  </a:lnTo>
                  <a:lnTo>
                    <a:pt x="5975921" y="946721"/>
                  </a:lnTo>
                  <a:lnTo>
                    <a:pt x="5973495" y="949147"/>
                  </a:lnTo>
                  <a:lnTo>
                    <a:pt x="5949175" y="961021"/>
                  </a:lnTo>
                  <a:lnTo>
                    <a:pt x="5945809" y="961694"/>
                  </a:lnTo>
                  <a:lnTo>
                    <a:pt x="5942406" y="962025"/>
                  </a:lnTo>
                  <a:lnTo>
                    <a:pt x="5938977" y="962025"/>
                  </a:lnTo>
                  <a:lnTo>
                    <a:pt x="52243" y="962025"/>
                  </a:lnTo>
                  <a:lnTo>
                    <a:pt x="48816" y="962025"/>
                  </a:lnTo>
                  <a:lnTo>
                    <a:pt x="45417" y="961694"/>
                  </a:lnTo>
                  <a:lnTo>
                    <a:pt x="42053" y="961021"/>
                  </a:lnTo>
                  <a:lnTo>
                    <a:pt x="38685" y="960348"/>
                  </a:lnTo>
                  <a:lnTo>
                    <a:pt x="23216" y="953223"/>
                  </a:lnTo>
                  <a:lnTo>
                    <a:pt x="20364" y="951318"/>
                  </a:lnTo>
                  <a:lnTo>
                    <a:pt x="17725" y="949147"/>
                  </a:lnTo>
                  <a:lnTo>
                    <a:pt x="15304" y="946721"/>
                  </a:lnTo>
                  <a:lnTo>
                    <a:pt x="12879" y="944295"/>
                  </a:lnTo>
                  <a:lnTo>
                    <a:pt x="3978" y="929767"/>
                  </a:lnTo>
                  <a:lnTo>
                    <a:pt x="2664" y="926604"/>
                  </a:lnTo>
                  <a:lnTo>
                    <a:pt x="1671" y="923340"/>
                  </a:lnTo>
                  <a:lnTo>
                    <a:pt x="1002" y="919975"/>
                  </a:lnTo>
                  <a:lnTo>
                    <a:pt x="332" y="916609"/>
                  </a:lnTo>
                  <a:lnTo>
                    <a:pt x="0" y="913206"/>
                  </a:lnTo>
                  <a:lnTo>
                    <a:pt x="0" y="909777"/>
                  </a:lnTo>
                  <a:close/>
                </a:path>
              </a:pathLst>
            </a:custGeom>
            <a:ln w="9525">
              <a:solidFill>
                <a:srgbClr val="DFB7B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 descr=""/>
          <p:cNvSpPr txBox="1"/>
          <p:nvPr/>
        </p:nvSpPr>
        <p:spPr>
          <a:xfrm>
            <a:off x="729654" y="3963987"/>
            <a:ext cx="3894454" cy="62484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75" b="1">
                <a:solidFill>
                  <a:srgbClr val="3B3434"/>
                </a:solidFill>
                <a:latin typeface="Verdana"/>
                <a:cs typeface="Verdana"/>
              </a:rPr>
              <a:t>Fehlende</a:t>
            </a:r>
            <a:r>
              <a:rPr dirty="0" sz="1650" spc="-135" b="1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1650" spc="-20" b="1">
                <a:solidFill>
                  <a:srgbClr val="3B3434"/>
                </a:solidFill>
                <a:latin typeface="Verdana"/>
                <a:cs typeface="Verdana"/>
              </a:rPr>
              <a:t>Werte</a:t>
            </a:r>
            <a:endParaRPr sz="16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195"/>
              </a:spcBef>
            </a:pPr>
            <a:r>
              <a:rPr dirty="0" sz="1250" spc="-60">
                <a:solidFill>
                  <a:srgbClr val="3B3434"/>
                </a:solidFill>
                <a:latin typeface="Verdana"/>
                <a:cs typeface="Verdana"/>
              </a:rPr>
              <a:t>37</a:t>
            </a:r>
            <a:r>
              <a:rPr dirty="0" sz="1250" spc="-3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1250">
                <a:solidFill>
                  <a:srgbClr val="3B3434"/>
                </a:solidFill>
                <a:latin typeface="Verdana"/>
                <a:cs typeface="Verdana"/>
              </a:rPr>
              <a:t>fehlende</a:t>
            </a:r>
            <a:r>
              <a:rPr dirty="0" sz="1250" spc="-25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1250">
                <a:solidFill>
                  <a:srgbClr val="3B3434"/>
                </a:solidFill>
                <a:latin typeface="Verdana"/>
                <a:cs typeface="Verdana"/>
              </a:rPr>
              <a:t>Ratings</a:t>
            </a:r>
            <a:r>
              <a:rPr dirty="0" sz="1250" spc="-25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1250">
                <a:solidFill>
                  <a:srgbClr val="3B3434"/>
                </a:solidFill>
                <a:latin typeface="Verdana"/>
                <a:cs typeface="Verdana"/>
              </a:rPr>
              <a:t>in</a:t>
            </a:r>
            <a:r>
              <a:rPr dirty="0" sz="1250" spc="-25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1250">
                <a:solidFill>
                  <a:srgbClr val="3B3434"/>
                </a:solidFill>
                <a:latin typeface="Verdana"/>
                <a:cs typeface="Verdana"/>
              </a:rPr>
              <a:t>der</a:t>
            </a:r>
            <a:r>
              <a:rPr dirty="0" sz="1250" spc="-25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1250">
                <a:solidFill>
                  <a:srgbClr val="3B3434"/>
                </a:solidFill>
                <a:latin typeface="Verdana"/>
                <a:cs typeface="Verdana"/>
              </a:rPr>
              <a:t>Spalte</a:t>
            </a:r>
            <a:r>
              <a:rPr dirty="0" sz="1250" spc="-25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1250">
                <a:solidFill>
                  <a:srgbClr val="3B3434"/>
                </a:solidFill>
                <a:latin typeface="Verdana"/>
                <a:cs typeface="Verdana"/>
              </a:rPr>
              <a:t>Review</a:t>
            </a:r>
            <a:r>
              <a:rPr dirty="0" sz="1250" spc="-3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Verdana"/>
                <a:cs typeface="Verdana"/>
              </a:rPr>
              <a:t>Rating</a:t>
            </a:r>
            <a:endParaRPr sz="12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7311" y="787400"/>
            <a:ext cx="639699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160"/>
              <a:t>Datenvorbereitung</a:t>
            </a:r>
            <a:r>
              <a:rPr dirty="0" spc="-340"/>
              <a:t> </a:t>
            </a:r>
            <a:r>
              <a:rPr dirty="0" spc="-150"/>
              <a:t>in</a:t>
            </a:r>
            <a:r>
              <a:rPr dirty="0" spc="-335"/>
              <a:t> </a:t>
            </a:r>
            <a:r>
              <a:rPr dirty="0" spc="-120"/>
              <a:t>Python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0" y="1781175"/>
            <a:ext cx="6543674" cy="3657600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7513535" y="2772600"/>
            <a:ext cx="3188335" cy="1587500"/>
          </a:xfrm>
          <a:prstGeom prst="rect">
            <a:avLst/>
          </a:prstGeom>
        </p:spPr>
        <p:txBody>
          <a:bodyPr wrap="square" lIns="0" tIns="7620" rIns="0" bIns="0" rtlCol="0" vert="horz">
            <a:spAutoFit/>
          </a:bodyPr>
          <a:lstStyle/>
          <a:p>
            <a:pPr marL="12700" marR="5080">
              <a:lnSpc>
                <a:spcPct val="137000"/>
              </a:lnSpc>
              <a:spcBef>
                <a:spcPts val="60"/>
              </a:spcBef>
            </a:pPr>
            <a:r>
              <a:rPr dirty="0" sz="1250">
                <a:solidFill>
                  <a:srgbClr val="3B3434"/>
                </a:solidFill>
                <a:latin typeface="Verdana"/>
                <a:cs typeface="Verdana"/>
              </a:rPr>
              <a:t>Schritte:</a:t>
            </a:r>
            <a:r>
              <a:rPr dirty="0" sz="1250" spc="-65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1250">
                <a:solidFill>
                  <a:srgbClr val="3B3434"/>
                </a:solidFill>
                <a:latin typeface="Verdana"/>
                <a:cs typeface="Verdana"/>
              </a:rPr>
              <a:t>Laden</a:t>
            </a:r>
            <a:r>
              <a:rPr dirty="0" sz="1250" spc="-6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1250">
                <a:solidFill>
                  <a:srgbClr val="3B3434"/>
                </a:solidFill>
                <a:latin typeface="Verdana"/>
                <a:cs typeface="Verdana"/>
              </a:rPr>
              <a:t>mit</a:t>
            </a:r>
            <a:r>
              <a:rPr dirty="0" sz="1250" spc="-6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Verdana"/>
                <a:cs typeface="Verdana"/>
              </a:rPr>
              <a:t>pandas, </a:t>
            </a:r>
            <a:r>
              <a:rPr dirty="0" sz="1250">
                <a:solidFill>
                  <a:srgbClr val="3B3434"/>
                </a:solidFill>
                <a:latin typeface="Verdana"/>
                <a:cs typeface="Verdana"/>
              </a:rPr>
              <a:t>Strukturprüfung</a:t>
            </a:r>
            <a:r>
              <a:rPr dirty="0" sz="1250" spc="-5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1250" spc="-40">
                <a:solidFill>
                  <a:srgbClr val="3B3434"/>
                </a:solidFill>
                <a:latin typeface="Verdana"/>
                <a:cs typeface="Verdana"/>
              </a:rPr>
              <a:t>(df.info()),</a:t>
            </a:r>
            <a:r>
              <a:rPr dirty="0" sz="125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Verdana"/>
                <a:cs typeface="Verdana"/>
              </a:rPr>
              <a:t>statistische </a:t>
            </a:r>
            <a:r>
              <a:rPr dirty="0" sz="1250" spc="45">
                <a:solidFill>
                  <a:srgbClr val="3B3434"/>
                </a:solidFill>
                <a:latin typeface="Verdana"/>
                <a:cs typeface="Verdana"/>
              </a:rPr>
              <a:t>Übersicht</a:t>
            </a:r>
            <a:r>
              <a:rPr dirty="0" sz="1250" spc="-7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1250" spc="-20">
                <a:solidFill>
                  <a:srgbClr val="3B3434"/>
                </a:solidFill>
                <a:latin typeface="Verdana"/>
                <a:cs typeface="Verdana"/>
              </a:rPr>
              <a:t>(describe()).</a:t>
            </a:r>
            <a:r>
              <a:rPr dirty="0" sz="1250" spc="-7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Verdana"/>
                <a:cs typeface="Verdana"/>
              </a:rPr>
              <a:t>Fehlende R</a:t>
            </a:r>
            <a:r>
              <a:rPr dirty="0" sz="1250" spc="-5">
                <a:solidFill>
                  <a:srgbClr val="3B3434"/>
                </a:solidFill>
                <a:latin typeface="Verdana"/>
                <a:cs typeface="Verdana"/>
              </a:rPr>
              <a:t>ev</a:t>
            </a:r>
            <a:r>
              <a:rPr dirty="0" sz="1250">
                <a:solidFill>
                  <a:srgbClr val="3B3434"/>
                </a:solidFill>
                <a:latin typeface="Verdana"/>
                <a:cs typeface="Verdana"/>
              </a:rPr>
              <a:t>i</a:t>
            </a:r>
            <a:r>
              <a:rPr dirty="0" sz="1250" spc="-5">
                <a:solidFill>
                  <a:srgbClr val="3B3434"/>
                </a:solidFill>
                <a:latin typeface="Verdana"/>
                <a:cs typeface="Verdana"/>
              </a:rPr>
              <a:t>e</a:t>
            </a:r>
            <a:r>
              <a:rPr dirty="0" sz="1250">
                <a:solidFill>
                  <a:srgbClr val="3B3434"/>
                </a:solidFill>
                <a:latin typeface="Verdana"/>
                <a:cs typeface="Verdana"/>
              </a:rPr>
              <a:t>w</a:t>
            </a:r>
            <a:r>
              <a:rPr dirty="0" sz="100">
                <a:solidFill>
                  <a:srgbClr val="3B3434"/>
                </a:solidFill>
                <a:latin typeface="Ink Free"/>
                <a:cs typeface="Ink Free"/>
              </a:rPr>
              <a:t>-</a:t>
            </a:r>
            <a:r>
              <a:rPr dirty="0" sz="1250">
                <a:solidFill>
                  <a:srgbClr val="3B3434"/>
                </a:solidFill>
                <a:latin typeface="Verdana"/>
                <a:cs typeface="Verdana"/>
              </a:rPr>
              <a:t>Ratings</a:t>
            </a:r>
            <a:r>
              <a:rPr dirty="0" sz="1250" spc="3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1250" spc="50">
                <a:solidFill>
                  <a:srgbClr val="3B3434"/>
                </a:solidFill>
                <a:latin typeface="Verdana"/>
                <a:cs typeface="Verdana"/>
              </a:rPr>
              <a:t>pro</a:t>
            </a:r>
            <a:r>
              <a:rPr dirty="0" sz="1250" spc="3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1250">
                <a:solidFill>
                  <a:srgbClr val="3B3434"/>
                </a:solidFill>
                <a:latin typeface="Verdana"/>
                <a:cs typeface="Verdana"/>
              </a:rPr>
              <a:t>Kategorie</a:t>
            </a:r>
            <a:r>
              <a:rPr dirty="0" sz="1250" spc="35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1250" spc="-20">
                <a:solidFill>
                  <a:srgbClr val="3B3434"/>
                </a:solidFill>
                <a:latin typeface="Verdana"/>
                <a:cs typeface="Verdana"/>
              </a:rPr>
              <a:t>durch </a:t>
            </a:r>
            <a:r>
              <a:rPr dirty="0" sz="1250">
                <a:solidFill>
                  <a:srgbClr val="3B3434"/>
                </a:solidFill>
                <a:latin typeface="Verdana"/>
                <a:cs typeface="Verdana"/>
              </a:rPr>
              <a:t>Median</a:t>
            </a:r>
            <a:r>
              <a:rPr dirty="0" sz="1250" spc="-10">
                <a:solidFill>
                  <a:srgbClr val="3B3434"/>
                </a:solidFill>
                <a:latin typeface="Verdana"/>
                <a:cs typeface="Verdana"/>
              </a:rPr>
              <a:t> ersetzt.</a:t>
            </a:r>
            <a:r>
              <a:rPr dirty="0" sz="1250" spc="-5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1250">
                <a:solidFill>
                  <a:srgbClr val="3B3434"/>
                </a:solidFill>
                <a:latin typeface="Verdana"/>
                <a:cs typeface="Verdana"/>
              </a:rPr>
              <a:t>Spalten</a:t>
            </a:r>
            <a:r>
              <a:rPr dirty="0" sz="1250" spc="-5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1250">
                <a:solidFill>
                  <a:srgbClr val="3B3434"/>
                </a:solidFill>
                <a:latin typeface="Verdana"/>
                <a:cs typeface="Verdana"/>
              </a:rPr>
              <a:t>in</a:t>
            </a:r>
            <a:r>
              <a:rPr dirty="0" sz="1250" spc="-5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Verdana"/>
                <a:cs typeface="Verdana"/>
              </a:rPr>
              <a:t>snake_case umbenannt.</a:t>
            </a:r>
            <a:endParaRPr sz="1250">
              <a:latin typeface="Verdana"/>
              <a:cs typeface="Verdana"/>
            </a:endParaRPr>
          </a:p>
        </p:txBody>
      </p:sp>
      <p:pic>
        <p:nvPicPr>
          <p:cNvPr id="5" name="object 5" descr="">
            <a:hlinkClick r:id="rId3"/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6994783" y="248"/>
            <a:ext cx="4197350" cy="6435090"/>
            <a:chOff x="6994783" y="248"/>
            <a:chExt cx="4197350" cy="643509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94783" y="248"/>
              <a:ext cx="4196870" cy="6434952"/>
            </a:xfrm>
            <a:prstGeom prst="rect">
              <a:avLst/>
            </a:prstGeom>
          </p:spPr>
        </p:pic>
        <p:pic>
          <p:nvPicPr>
            <p:cNvPr id="4" name="object 4" descr="">
              <a:hlinkClick r:id="rId3"/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380471" y="5936799"/>
              <a:ext cx="1717918" cy="41036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45425" y="406986"/>
            <a:ext cx="4735195" cy="1051560"/>
          </a:xfrm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 marR="5080">
              <a:lnSpc>
                <a:spcPts val="4110"/>
              </a:lnSpc>
              <a:spcBef>
                <a:spcPts val="55"/>
              </a:spcBef>
            </a:pPr>
            <a:r>
              <a:rPr dirty="0" sz="3300" spc="-220"/>
              <a:t>Feature</a:t>
            </a:r>
            <a:r>
              <a:rPr dirty="0" sz="3300" spc="-350"/>
              <a:t> </a:t>
            </a:r>
            <a:r>
              <a:rPr dirty="0" sz="3300" spc="-170"/>
              <a:t>Engineering</a:t>
            </a:r>
            <a:r>
              <a:rPr dirty="0" sz="3300" spc="-345"/>
              <a:t> </a:t>
            </a:r>
            <a:r>
              <a:rPr dirty="0" sz="3300" spc="60"/>
              <a:t>T </a:t>
            </a:r>
            <a:r>
              <a:rPr dirty="0" sz="3300" spc="-65"/>
              <a:t>Konsistenz</a:t>
            </a:r>
            <a:endParaRPr sz="3300"/>
          </a:p>
        </p:txBody>
      </p:sp>
      <p:pic>
        <p:nvPicPr>
          <p:cNvPr id="6" name="object 6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50757" y="1725507"/>
            <a:ext cx="416353" cy="398441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545425" y="2295578"/>
            <a:ext cx="4089400" cy="612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50" spc="-50" b="1">
                <a:solidFill>
                  <a:srgbClr val="3B3434"/>
                </a:solidFill>
                <a:latin typeface="Verdana"/>
                <a:cs typeface="Verdana"/>
              </a:rPr>
              <a:t>Age</a:t>
            </a:r>
            <a:r>
              <a:rPr dirty="0" sz="1650" spc="-190" b="1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1650" spc="-10" b="1">
                <a:solidFill>
                  <a:srgbClr val="3B3434"/>
                </a:solidFill>
                <a:latin typeface="Verdana"/>
                <a:cs typeface="Verdana"/>
              </a:rPr>
              <a:t>Croup</a:t>
            </a:r>
            <a:endParaRPr sz="16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140"/>
              </a:spcBef>
            </a:pPr>
            <a:r>
              <a:rPr dirty="0" sz="1250">
                <a:solidFill>
                  <a:srgbClr val="3B3434"/>
                </a:solidFill>
                <a:latin typeface="Verdana"/>
                <a:cs typeface="Verdana"/>
              </a:rPr>
              <a:t>Neue</a:t>
            </a:r>
            <a:r>
              <a:rPr dirty="0" sz="1250" spc="-95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1250">
                <a:solidFill>
                  <a:srgbClr val="3B3434"/>
                </a:solidFill>
                <a:latin typeface="Verdana"/>
                <a:cs typeface="Verdana"/>
              </a:rPr>
              <a:t>Spalte</a:t>
            </a:r>
            <a:r>
              <a:rPr dirty="0" sz="1250" spc="-95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1250">
                <a:solidFill>
                  <a:srgbClr val="3B3434"/>
                </a:solidFill>
                <a:latin typeface="Verdana"/>
                <a:cs typeface="Verdana"/>
              </a:rPr>
              <a:t>age_group</a:t>
            </a:r>
            <a:r>
              <a:rPr dirty="0" sz="1250" spc="-95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1250" spc="-45">
                <a:solidFill>
                  <a:srgbClr val="3B3434"/>
                </a:solidFill>
                <a:latin typeface="Verdana"/>
                <a:cs typeface="Verdana"/>
              </a:rPr>
              <a:t>zur</a:t>
            </a:r>
            <a:r>
              <a:rPr dirty="0" sz="1250" spc="-95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1250">
                <a:solidFill>
                  <a:srgbClr val="3B3434"/>
                </a:solidFill>
                <a:latin typeface="Verdana"/>
                <a:cs typeface="Verdana"/>
              </a:rPr>
              <a:t>altersbasierten</a:t>
            </a:r>
            <a:r>
              <a:rPr dirty="0" sz="1250" spc="-95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Verdana"/>
                <a:cs typeface="Verdana"/>
              </a:rPr>
              <a:t>Analyse</a:t>
            </a:r>
            <a:endParaRPr sz="1250">
              <a:latin typeface="Verdana"/>
              <a:cs typeface="Verdana"/>
            </a:endParaRPr>
          </a:p>
        </p:txBody>
      </p:sp>
      <p:sp>
        <p:nvSpPr>
          <p:cNvPr id="8" name="object 8" descr=""/>
          <p:cNvSpPr/>
          <p:nvPr/>
        </p:nvSpPr>
        <p:spPr>
          <a:xfrm>
            <a:off x="573246" y="3254657"/>
            <a:ext cx="371475" cy="399415"/>
          </a:xfrm>
          <a:custGeom>
            <a:avLst/>
            <a:gdLst/>
            <a:ahLst/>
            <a:cxnLst/>
            <a:rect l="l" t="t" r="r" b="b"/>
            <a:pathLst>
              <a:path w="371475" h="399414">
                <a:moveTo>
                  <a:pt x="302548" y="44866"/>
                </a:moveTo>
                <a:lnTo>
                  <a:pt x="341962" y="47203"/>
                </a:lnTo>
                <a:lnTo>
                  <a:pt x="369140" y="73976"/>
                </a:lnTo>
                <a:lnTo>
                  <a:pt x="371233" y="83949"/>
                </a:lnTo>
                <a:lnTo>
                  <a:pt x="371370" y="102403"/>
                </a:lnTo>
              </a:path>
              <a:path w="371475" h="399414">
                <a:moveTo>
                  <a:pt x="68884" y="51183"/>
                </a:moveTo>
                <a:lnTo>
                  <a:pt x="82675" y="87692"/>
                </a:lnTo>
                <a:lnTo>
                  <a:pt x="88212" y="88849"/>
                </a:lnTo>
                <a:lnTo>
                  <a:pt x="91933" y="88712"/>
                </a:lnTo>
                <a:lnTo>
                  <a:pt x="109269" y="69251"/>
                </a:lnTo>
                <a:lnTo>
                  <a:pt x="109478" y="65508"/>
                </a:lnTo>
              </a:path>
              <a:path w="371475" h="399414">
                <a:moveTo>
                  <a:pt x="262101" y="49404"/>
                </a:moveTo>
                <a:lnTo>
                  <a:pt x="274161" y="87207"/>
                </a:lnTo>
                <a:lnTo>
                  <a:pt x="284183" y="88886"/>
                </a:lnTo>
                <a:lnTo>
                  <a:pt x="286893" y="88414"/>
                </a:lnTo>
                <a:lnTo>
                  <a:pt x="302291" y="69835"/>
                </a:lnTo>
                <a:lnTo>
                  <a:pt x="302539" y="66242"/>
                </a:lnTo>
              </a:path>
              <a:path w="371475" h="399414">
                <a:moveTo>
                  <a:pt x="371375" y="354302"/>
                </a:moveTo>
                <a:lnTo>
                  <a:pt x="354587" y="389817"/>
                </a:lnTo>
                <a:lnTo>
                  <a:pt x="324932" y="398771"/>
                </a:lnTo>
                <a:lnTo>
                  <a:pt x="313886" y="398932"/>
                </a:lnTo>
              </a:path>
              <a:path w="371475" h="399414">
                <a:moveTo>
                  <a:pt x="50086" y="398957"/>
                </a:moveTo>
                <a:lnTo>
                  <a:pt x="13367" y="387007"/>
                </a:lnTo>
                <a:lnTo>
                  <a:pt x="101" y="351231"/>
                </a:lnTo>
                <a:lnTo>
                  <a:pt x="4" y="340201"/>
                </a:lnTo>
              </a:path>
              <a:path w="371475" h="399414">
                <a:moveTo>
                  <a:pt x="0" y="90142"/>
                </a:moveTo>
                <a:lnTo>
                  <a:pt x="19541" y="51854"/>
                </a:lnTo>
                <a:lnTo>
                  <a:pt x="57379" y="45103"/>
                </a:lnTo>
                <a:lnTo>
                  <a:pt x="68874" y="44978"/>
                </a:lnTo>
              </a:path>
              <a:path w="371475" h="399414">
                <a:moveTo>
                  <a:pt x="109274" y="19523"/>
                </a:moveTo>
                <a:lnTo>
                  <a:pt x="86920" y="136"/>
                </a:lnTo>
                <a:lnTo>
                  <a:pt x="81595" y="1678"/>
                </a:lnTo>
                <a:lnTo>
                  <a:pt x="68920" y="37947"/>
                </a:lnTo>
                <a:lnTo>
                  <a:pt x="68884" y="51183"/>
                </a:lnTo>
              </a:path>
              <a:path w="371475" h="399414">
                <a:moveTo>
                  <a:pt x="301437" y="14685"/>
                </a:moveTo>
                <a:lnTo>
                  <a:pt x="283211" y="0"/>
                </a:lnTo>
                <a:lnTo>
                  <a:pt x="278746" y="310"/>
                </a:lnTo>
                <a:lnTo>
                  <a:pt x="262182" y="33381"/>
                </a:lnTo>
                <a:lnTo>
                  <a:pt x="262101" y="49404"/>
                </a:lnTo>
              </a:path>
              <a:path w="371475" h="399414">
                <a:moveTo>
                  <a:pt x="262101" y="45065"/>
                </a:moveTo>
                <a:lnTo>
                  <a:pt x="109478" y="45077"/>
                </a:lnTo>
              </a:path>
              <a:path w="371475" h="399414">
                <a:moveTo>
                  <a:pt x="293810" y="291430"/>
                </a:moveTo>
                <a:lnTo>
                  <a:pt x="75043" y="292388"/>
                </a:lnTo>
              </a:path>
              <a:path w="371475" h="399414">
                <a:moveTo>
                  <a:pt x="149203" y="147033"/>
                </a:moveTo>
                <a:lnTo>
                  <a:pt x="149101" y="360433"/>
                </a:lnTo>
                <a:lnTo>
                  <a:pt x="75053" y="360445"/>
                </a:lnTo>
                <a:lnTo>
                  <a:pt x="75053" y="286966"/>
                </a:lnTo>
              </a:path>
              <a:path w="371475" h="399414">
                <a:moveTo>
                  <a:pt x="296161" y="219692"/>
                </a:moveTo>
                <a:lnTo>
                  <a:pt x="75087" y="219555"/>
                </a:lnTo>
              </a:path>
              <a:path w="371475" h="399414">
                <a:moveTo>
                  <a:pt x="293810" y="291430"/>
                </a:moveTo>
                <a:lnTo>
                  <a:pt x="295525" y="289888"/>
                </a:lnTo>
                <a:lnTo>
                  <a:pt x="296069" y="147431"/>
                </a:lnTo>
              </a:path>
              <a:path w="371475" h="399414">
                <a:moveTo>
                  <a:pt x="222570" y="147070"/>
                </a:moveTo>
                <a:lnTo>
                  <a:pt x="222643" y="292077"/>
                </a:lnTo>
              </a:path>
              <a:path w="371475" h="399414">
                <a:moveTo>
                  <a:pt x="75053" y="286966"/>
                </a:moveTo>
                <a:lnTo>
                  <a:pt x="75222" y="147344"/>
                </a:lnTo>
              </a:path>
              <a:path w="371475" h="399414">
                <a:moveTo>
                  <a:pt x="296069" y="147431"/>
                </a:moveTo>
                <a:lnTo>
                  <a:pt x="75222" y="147344"/>
                </a:lnTo>
              </a:path>
              <a:path w="371475" h="399414">
                <a:moveTo>
                  <a:pt x="371370" y="102403"/>
                </a:moveTo>
                <a:lnTo>
                  <a:pt x="371375" y="354302"/>
                </a:lnTo>
              </a:path>
              <a:path w="371475" h="399414">
                <a:moveTo>
                  <a:pt x="313886" y="398932"/>
                </a:moveTo>
                <a:lnTo>
                  <a:pt x="50086" y="398957"/>
                </a:lnTo>
              </a:path>
              <a:path w="371475" h="399414">
                <a:moveTo>
                  <a:pt x="4" y="340201"/>
                </a:moveTo>
                <a:lnTo>
                  <a:pt x="0" y="90142"/>
                </a:lnTo>
              </a:path>
              <a:path w="371475" h="399414">
                <a:moveTo>
                  <a:pt x="109478" y="65508"/>
                </a:moveTo>
                <a:lnTo>
                  <a:pt x="109274" y="19523"/>
                </a:lnTo>
              </a:path>
              <a:path w="371475" h="399414">
                <a:moveTo>
                  <a:pt x="302539" y="66242"/>
                </a:moveTo>
                <a:lnTo>
                  <a:pt x="301437" y="14685"/>
                </a:lnTo>
              </a:path>
            </a:pathLst>
          </a:custGeom>
          <a:ln w="17673">
            <a:solidFill>
              <a:srgbClr val="DA1B2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545425" y="3825104"/>
            <a:ext cx="4502150" cy="612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50" spc="-105" b="1">
                <a:solidFill>
                  <a:srgbClr val="3B3434"/>
                </a:solidFill>
                <a:latin typeface="Verdana"/>
                <a:cs typeface="Verdana"/>
              </a:rPr>
              <a:t>Purchase</a:t>
            </a:r>
            <a:r>
              <a:rPr dirty="0" sz="1650" spc="-140" b="1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1650" spc="-10" b="1">
                <a:solidFill>
                  <a:srgbClr val="3B3434"/>
                </a:solidFill>
                <a:latin typeface="Verdana"/>
                <a:cs typeface="Verdana"/>
              </a:rPr>
              <a:t>Frequency</a:t>
            </a:r>
            <a:endParaRPr sz="16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140"/>
              </a:spcBef>
            </a:pPr>
            <a:r>
              <a:rPr dirty="0" sz="1250" spc="-10">
                <a:solidFill>
                  <a:srgbClr val="3B3434"/>
                </a:solidFill>
                <a:latin typeface="Verdana"/>
                <a:cs typeface="Verdana"/>
              </a:rPr>
              <a:t>purchase_frequency_days</a:t>
            </a:r>
            <a:r>
              <a:rPr dirty="0" sz="1250" spc="-105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1250" spc="-45">
                <a:solidFill>
                  <a:srgbClr val="3B3434"/>
                </a:solidFill>
                <a:latin typeface="Verdana"/>
                <a:cs typeface="Verdana"/>
              </a:rPr>
              <a:t>zur</a:t>
            </a:r>
            <a:r>
              <a:rPr dirty="0" sz="1250" spc="-105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1250">
                <a:solidFill>
                  <a:srgbClr val="3B3434"/>
                </a:solidFill>
                <a:latin typeface="Verdana"/>
                <a:cs typeface="Verdana"/>
              </a:rPr>
              <a:t>Crenzen</a:t>
            </a:r>
            <a:r>
              <a:rPr dirty="0" sz="1250" spc="-105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1250">
                <a:solidFill>
                  <a:srgbClr val="3B3434"/>
                </a:solidFill>
                <a:latin typeface="Verdana"/>
                <a:cs typeface="Verdana"/>
              </a:rPr>
              <a:t>der</a:t>
            </a:r>
            <a:r>
              <a:rPr dirty="0" sz="1250" spc="-10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Verdana"/>
                <a:cs typeface="Verdana"/>
              </a:rPr>
              <a:t>Kaufrhythmik</a:t>
            </a:r>
            <a:endParaRPr sz="1250">
              <a:latin typeface="Verdana"/>
              <a:cs typeface="Verdana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579500" y="4775607"/>
            <a:ext cx="359410" cy="416559"/>
            <a:chOff x="579500" y="4775607"/>
            <a:chExt cx="359410" cy="416559"/>
          </a:xfrm>
        </p:grpSpPr>
        <p:sp>
          <p:nvSpPr>
            <p:cNvPr id="11" name="object 11" descr=""/>
            <p:cNvSpPr/>
            <p:nvPr/>
          </p:nvSpPr>
          <p:spPr>
            <a:xfrm>
              <a:off x="646560" y="4946512"/>
              <a:ext cx="283210" cy="235585"/>
            </a:xfrm>
            <a:custGeom>
              <a:avLst/>
              <a:gdLst/>
              <a:ahLst/>
              <a:cxnLst/>
              <a:rect l="l" t="t" r="r" b="b"/>
              <a:pathLst>
                <a:path w="283209" h="235585">
                  <a:moveTo>
                    <a:pt x="281492" y="97690"/>
                  </a:moveTo>
                  <a:lnTo>
                    <a:pt x="246853" y="119104"/>
                  </a:lnTo>
                  <a:lnTo>
                    <a:pt x="200736" y="133031"/>
                  </a:lnTo>
                  <a:lnTo>
                    <a:pt x="172281" y="137406"/>
                  </a:lnTo>
                  <a:lnTo>
                    <a:pt x="163358" y="138527"/>
                  </a:lnTo>
                </a:path>
                <a:path w="283209" h="235585">
                  <a:moveTo>
                    <a:pt x="281962" y="0"/>
                  </a:moveTo>
                  <a:lnTo>
                    <a:pt x="249398" y="21798"/>
                  </a:lnTo>
                  <a:lnTo>
                    <a:pt x="202778" y="36071"/>
                  </a:lnTo>
                  <a:lnTo>
                    <a:pt x="153963" y="42879"/>
                  </a:lnTo>
                  <a:lnTo>
                    <a:pt x="139370" y="44119"/>
                  </a:lnTo>
                  <a:lnTo>
                    <a:pt x="129534" y="44517"/>
                  </a:lnTo>
                </a:path>
                <a:path w="283209" h="235585">
                  <a:moveTo>
                    <a:pt x="92229" y="44430"/>
                  </a:moveTo>
                  <a:lnTo>
                    <a:pt x="72394" y="42822"/>
                  </a:lnTo>
                  <a:lnTo>
                    <a:pt x="53929" y="40865"/>
                  </a:lnTo>
                  <a:lnTo>
                    <a:pt x="36524" y="38520"/>
                  </a:lnTo>
                  <a:lnTo>
                    <a:pt x="19867" y="35751"/>
                  </a:lnTo>
                  <a:lnTo>
                    <a:pt x="0" y="30640"/>
                  </a:lnTo>
                </a:path>
                <a:path w="283209" h="235585">
                  <a:moveTo>
                    <a:pt x="282973" y="169329"/>
                  </a:moveTo>
                  <a:lnTo>
                    <a:pt x="262024" y="205530"/>
                  </a:lnTo>
                  <a:lnTo>
                    <a:pt x="226290" y="221353"/>
                  </a:lnTo>
                  <a:lnTo>
                    <a:pt x="187919" y="230443"/>
                  </a:lnTo>
                  <a:lnTo>
                    <a:pt x="166248" y="233756"/>
                  </a:lnTo>
                  <a:lnTo>
                    <a:pt x="153074" y="235012"/>
                  </a:lnTo>
                </a:path>
              </a:pathLst>
            </a:custGeom>
            <a:ln w="17667">
              <a:solidFill>
                <a:srgbClr val="DA1B2E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79632" y="5082137"/>
              <a:ext cx="123525" cy="105559"/>
            </a:xfrm>
            <a:prstGeom prst="rect">
              <a:avLst/>
            </a:prstGeom>
          </p:spPr>
        </p:pic>
        <p:sp>
          <p:nvSpPr>
            <p:cNvPr id="13" name="object 13" descr=""/>
            <p:cNvSpPr/>
            <p:nvPr/>
          </p:nvSpPr>
          <p:spPr>
            <a:xfrm>
              <a:off x="588334" y="4784441"/>
              <a:ext cx="341630" cy="398780"/>
            </a:xfrm>
            <a:custGeom>
              <a:avLst/>
              <a:gdLst/>
              <a:ahLst/>
              <a:cxnLst/>
              <a:rect l="l" t="t" r="r" b="b"/>
              <a:pathLst>
                <a:path w="341630" h="398779">
                  <a:moveTo>
                    <a:pt x="150" y="84313"/>
                  </a:moveTo>
                  <a:lnTo>
                    <a:pt x="244" y="73326"/>
                  </a:lnTo>
                  <a:lnTo>
                    <a:pt x="262" y="63464"/>
                  </a:lnTo>
                  <a:lnTo>
                    <a:pt x="367" y="55325"/>
                  </a:lnTo>
                  <a:lnTo>
                    <a:pt x="24788" y="24599"/>
                  </a:lnTo>
                  <a:lnTo>
                    <a:pt x="69258" y="9460"/>
                  </a:lnTo>
                  <a:lnTo>
                    <a:pt x="111253" y="2925"/>
                  </a:lnTo>
                  <a:lnTo>
                    <a:pt x="159541" y="96"/>
                  </a:lnTo>
                  <a:lnTo>
                    <a:pt x="175256" y="0"/>
                  </a:lnTo>
                  <a:lnTo>
                    <a:pt x="190655" y="252"/>
                  </a:lnTo>
                  <a:lnTo>
                    <a:pt x="233450" y="3251"/>
                  </a:lnTo>
                  <a:lnTo>
                    <a:pt x="274813" y="10274"/>
                  </a:lnTo>
                  <a:lnTo>
                    <a:pt x="315878" y="24363"/>
                  </a:lnTo>
                  <a:lnTo>
                    <a:pt x="340768" y="55442"/>
                  </a:lnTo>
                  <a:lnTo>
                    <a:pt x="341096" y="76968"/>
                  </a:lnTo>
                  <a:lnTo>
                    <a:pt x="341156" y="93515"/>
                  </a:lnTo>
                </a:path>
                <a:path w="341630" h="398779">
                  <a:moveTo>
                    <a:pt x="341161" y="258729"/>
                  </a:moveTo>
                  <a:lnTo>
                    <a:pt x="341199" y="331400"/>
                  </a:lnTo>
                </a:path>
                <a:path w="341630" h="398779">
                  <a:moveTo>
                    <a:pt x="341146" y="161312"/>
                  </a:moveTo>
                  <a:lnTo>
                    <a:pt x="339718" y="259761"/>
                  </a:lnTo>
                </a:path>
                <a:path w="341630" h="398779">
                  <a:moveTo>
                    <a:pt x="341136" y="67886"/>
                  </a:moveTo>
                  <a:lnTo>
                    <a:pt x="324600" y="79770"/>
                  </a:lnTo>
                  <a:lnTo>
                    <a:pt x="306965" y="89231"/>
                  </a:lnTo>
                  <a:lnTo>
                    <a:pt x="288230" y="96268"/>
                  </a:lnTo>
                  <a:lnTo>
                    <a:pt x="268395" y="100877"/>
                  </a:lnTo>
                </a:path>
                <a:path w="341630" h="398779">
                  <a:moveTo>
                    <a:pt x="221584" y="300598"/>
                  </a:moveTo>
                  <a:lnTo>
                    <a:pt x="185359" y="302680"/>
                  </a:lnTo>
                  <a:lnTo>
                    <a:pt x="149131" y="302516"/>
                  </a:lnTo>
                  <a:lnTo>
                    <a:pt x="112903" y="299699"/>
                  </a:lnTo>
                  <a:lnTo>
                    <a:pt x="76675" y="293821"/>
                  </a:lnTo>
                </a:path>
                <a:path w="341630" h="398779">
                  <a:moveTo>
                    <a:pt x="76743" y="293373"/>
                  </a:moveTo>
                  <a:lnTo>
                    <a:pt x="55613" y="288706"/>
                  </a:lnTo>
                  <a:lnTo>
                    <a:pt x="35779" y="281233"/>
                  </a:lnTo>
                  <a:lnTo>
                    <a:pt x="17242" y="270958"/>
                  </a:lnTo>
                  <a:lnTo>
                    <a:pt x="0" y="257883"/>
                  </a:lnTo>
                </a:path>
                <a:path w="341630" h="398779">
                  <a:moveTo>
                    <a:pt x="211300" y="397083"/>
                  </a:moveTo>
                  <a:lnTo>
                    <a:pt x="184975" y="398468"/>
                  </a:lnTo>
                  <a:lnTo>
                    <a:pt x="158664" y="398578"/>
                  </a:lnTo>
                  <a:lnTo>
                    <a:pt x="132343" y="397275"/>
                  </a:lnTo>
                  <a:lnTo>
                    <a:pt x="105989" y="394421"/>
                  </a:lnTo>
                </a:path>
                <a:path w="341630" h="398779">
                  <a:moveTo>
                    <a:pt x="131" y="306530"/>
                  </a:moveTo>
                  <a:lnTo>
                    <a:pt x="150" y="84313"/>
                  </a:lnTo>
                </a:path>
                <a:path w="341630" h="398779">
                  <a:moveTo>
                    <a:pt x="187761" y="206588"/>
                  </a:moveTo>
                  <a:lnTo>
                    <a:pt x="150455" y="206501"/>
                  </a:lnTo>
                </a:path>
                <a:path w="341630" h="398779">
                  <a:moveTo>
                    <a:pt x="341156" y="93515"/>
                  </a:moveTo>
                  <a:lnTo>
                    <a:pt x="340189" y="162070"/>
                  </a:lnTo>
                </a:path>
                <a:path w="341630" h="398779">
                  <a:moveTo>
                    <a:pt x="58274" y="192524"/>
                  </a:moveTo>
                  <a:lnTo>
                    <a:pt x="42309" y="187479"/>
                  </a:lnTo>
                  <a:lnTo>
                    <a:pt x="27323" y="180606"/>
                  </a:lnTo>
                  <a:lnTo>
                    <a:pt x="13317" y="171909"/>
                  </a:lnTo>
                  <a:lnTo>
                    <a:pt x="290" y="161386"/>
                  </a:lnTo>
                </a:path>
                <a:path w="341630" h="398779">
                  <a:moveTo>
                    <a:pt x="268444" y="101175"/>
                  </a:moveTo>
                  <a:lnTo>
                    <a:pt x="220681" y="108750"/>
                  </a:lnTo>
                  <a:lnTo>
                    <a:pt x="172917" y="111587"/>
                  </a:lnTo>
                  <a:lnTo>
                    <a:pt x="125156" y="109541"/>
                  </a:lnTo>
                  <a:lnTo>
                    <a:pt x="77398" y="102468"/>
                  </a:lnTo>
                </a:path>
                <a:path w="341630" h="398779">
                  <a:moveTo>
                    <a:pt x="77452" y="102133"/>
                  </a:moveTo>
                  <a:lnTo>
                    <a:pt x="56619" y="97551"/>
                  </a:lnTo>
                  <a:lnTo>
                    <a:pt x="36801" y="90574"/>
                  </a:lnTo>
                  <a:lnTo>
                    <a:pt x="17998" y="81201"/>
                  </a:lnTo>
                  <a:lnTo>
                    <a:pt x="208" y="69428"/>
                  </a:lnTo>
                </a:path>
              </a:pathLst>
            </a:custGeom>
            <a:ln w="17667">
              <a:solidFill>
                <a:srgbClr val="DA1B2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 txBox="1"/>
          <p:nvPr/>
        </p:nvSpPr>
        <p:spPr>
          <a:xfrm>
            <a:off x="545425" y="5354632"/>
            <a:ext cx="4195445" cy="612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50" spc="-20" b="1">
                <a:solidFill>
                  <a:srgbClr val="3B3434"/>
                </a:solidFill>
                <a:latin typeface="Verdana"/>
                <a:cs typeface="Verdana"/>
              </a:rPr>
              <a:t>Datenbereinigung</a:t>
            </a:r>
            <a:endParaRPr sz="16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140"/>
              </a:spcBef>
            </a:pPr>
            <a:r>
              <a:rPr dirty="0" sz="1250">
                <a:solidFill>
                  <a:srgbClr val="3B3434"/>
                </a:solidFill>
                <a:latin typeface="Verdana"/>
                <a:cs typeface="Verdana"/>
              </a:rPr>
              <a:t>Prüfung</a:t>
            </a:r>
            <a:r>
              <a:rPr dirty="0" sz="1250" spc="-75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1250" spc="-20">
                <a:solidFill>
                  <a:srgbClr val="3B3434"/>
                </a:solidFill>
                <a:latin typeface="Verdana"/>
                <a:cs typeface="Verdana"/>
              </a:rPr>
              <a:t>auf</a:t>
            </a:r>
            <a:r>
              <a:rPr dirty="0" sz="1250" spc="-75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1250" spc="-30">
                <a:solidFill>
                  <a:srgbClr val="3B3434"/>
                </a:solidFill>
                <a:latin typeface="Verdana"/>
                <a:cs typeface="Verdana"/>
              </a:rPr>
              <a:t>Redundanz:</a:t>
            </a:r>
            <a:r>
              <a:rPr dirty="0" sz="1250" spc="-75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1250">
                <a:solidFill>
                  <a:srgbClr val="3B3434"/>
                </a:solidFill>
                <a:latin typeface="Verdana"/>
                <a:cs typeface="Verdana"/>
              </a:rPr>
              <a:t>promo_code_used</a:t>
            </a:r>
            <a:r>
              <a:rPr dirty="0" sz="1250" spc="-75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Verdana"/>
                <a:cs typeface="Verdana"/>
              </a:rPr>
              <a:t>gelöscht</a:t>
            </a:r>
            <a:endParaRPr sz="12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96288" rIns="0" bIns="0" rtlCol="0" vert="horz">
            <a:spAutoFit/>
          </a:bodyPr>
          <a:lstStyle/>
          <a:p>
            <a:pPr marL="24130">
              <a:lnSpc>
                <a:spcPct val="100000"/>
              </a:lnSpc>
              <a:spcBef>
                <a:spcPts val="125"/>
              </a:spcBef>
            </a:pPr>
            <a:r>
              <a:rPr dirty="0" spc="-170"/>
              <a:t>Datenbank</a:t>
            </a:r>
            <a:r>
              <a:rPr dirty="0" spc="-365"/>
              <a:t> </a:t>
            </a:r>
            <a:r>
              <a:rPr dirty="0" spc="110"/>
              <a:t>T</a:t>
            </a:r>
            <a:r>
              <a:rPr dirty="0" spc="-360"/>
              <a:t> </a:t>
            </a:r>
            <a:r>
              <a:rPr dirty="0" spc="-20"/>
              <a:t>SQL</a:t>
            </a:r>
            <a:r>
              <a:rPr dirty="0" sz="200" spc="-20" b="0">
                <a:latin typeface="Ink Free"/>
                <a:cs typeface="Ink Free"/>
              </a:rPr>
              <a:t>-</a:t>
            </a:r>
            <a:r>
              <a:rPr dirty="0" spc="-50"/>
              <a:t>Analysen</a:t>
            </a:r>
            <a:endParaRPr sz="200">
              <a:latin typeface="Ink Free"/>
              <a:cs typeface="Ink Free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0" y="1781175"/>
            <a:ext cx="6543674" cy="3657600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7513535" y="3020250"/>
            <a:ext cx="3308985" cy="107315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 marR="5080">
              <a:lnSpc>
                <a:spcPct val="136700"/>
              </a:lnSpc>
              <a:spcBef>
                <a:spcPts val="140"/>
              </a:spcBef>
            </a:pPr>
            <a:r>
              <a:rPr dirty="0" sz="1250" spc="20">
                <a:solidFill>
                  <a:srgbClr val="3B3434"/>
                </a:solidFill>
                <a:latin typeface="Verdana"/>
                <a:cs typeface="Verdana"/>
              </a:rPr>
              <a:t>Bereinigte</a:t>
            </a:r>
            <a:r>
              <a:rPr dirty="0" sz="1250" spc="-8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1250" spc="20">
                <a:solidFill>
                  <a:srgbClr val="3B3434"/>
                </a:solidFill>
                <a:latin typeface="Verdana"/>
                <a:cs typeface="Verdana"/>
              </a:rPr>
              <a:t>Daten</a:t>
            </a:r>
            <a:r>
              <a:rPr dirty="0" sz="1250" spc="-75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1250" spc="20">
                <a:solidFill>
                  <a:srgbClr val="3B3434"/>
                </a:solidFill>
                <a:latin typeface="Verdana"/>
                <a:cs typeface="Verdana"/>
              </a:rPr>
              <a:t>in</a:t>
            </a:r>
            <a:r>
              <a:rPr dirty="0" sz="1250" spc="-75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1250" spc="20">
                <a:solidFill>
                  <a:srgbClr val="3B3434"/>
                </a:solidFill>
                <a:latin typeface="Verdana"/>
                <a:cs typeface="Verdana"/>
              </a:rPr>
              <a:t>PostgreSQL</a:t>
            </a:r>
            <a:r>
              <a:rPr dirty="0" sz="1250" spc="-8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Verdana"/>
                <a:cs typeface="Verdana"/>
              </a:rPr>
              <a:t>geladen </a:t>
            </a:r>
            <a:r>
              <a:rPr dirty="0" sz="1250">
                <a:solidFill>
                  <a:srgbClr val="3B3434"/>
                </a:solidFill>
                <a:latin typeface="Verdana"/>
                <a:cs typeface="Verdana"/>
              </a:rPr>
              <a:t>für</a:t>
            </a:r>
            <a:r>
              <a:rPr dirty="0" sz="1250" spc="-3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1250">
                <a:solidFill>
                  <a:srgbClr val="3B3434"/>
                </a:solidFill>
                <a:latin typeface="Verdana"/>
                <a:cs typeface="Verdana"/>
              </a:rPr>
              <a:t>strukturierte</a:t>
            </a:r>
            <a:r>
              <a:rPr dirty="0" sz="1250" spc="-25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1250" spc="10">
                <a:solidFill>
                  <a:srgbClr val="3B3434"/>
                </a:solidFill>
                <a:latin typeface="Verdana"/>
                <a:cs typeface="Verdana"/>
              </a:rPr>
              <a:t>Abfragen</a:t>
            </a:r>
            <a:r>
              <a:rPr dirty="0" sz="1250" spc="-25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Verdana"/>
                <a:cs typeface="Verdana"/>
              </a:rPr>
              <a:t>(Umsatz, </a:t>
            </a:r>
            <a:r>
              <a:rPr dirty="0" sz="1250">
                <a:solidFill>
                  <a:srgbClr val="3B3434"/>
                </a:solidFill>
                <a:latin typeface="Verdana"/>
                <a:cs typeface="Verdana"/>
              </a:rPr>
              <a:t>Segmente,</a:t>
            </a:r>
            <a:r>
              <a:rPr dirty="0" sz="1250" spc="12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1250" spc="-60">
                <a:solidFill>
                  <a:srgbClr val="3B3434"/>
                </a:solidFill>
                <a:latin typeface="Verdana"/>
                <a:cs typeface="Verdana"/>
              </a:rPr>
              <a:t>T</a:t>
            </a:r>
            <a:r>
              <a:rPr dirty="0" sz="1250" spc="20">
                <a:solidFill>
                  <a:srgbClr val="3B3434"/>
                </a:solidFill>
                <a:latin typeface="Verdana"/>
                <a:cs typeface="Verdana"/>
              </a:rPr>
              <a:t>op</a:t>
            </a:r>
            <a:r>
              <a:rPr dirty="0" sz="100" spc="20">
                <a:solidFill>
                  <a:srgbClr val="3B3434"/>
                </a:solidFill>
                <a:latin typeface="Ink Free"/>
                <a:cs typeface="Ink Free"/>
              </a:rPr>
              <a:t>-</a:t>
            </a:r>
            <a:r>
              <a:rPr dirty="0" sz="1250" spc="-10">
                <a:solidFill>
                  <a:srgbClr val="3B3434"/>
                </a:solidFill>
                <a:latin typeface="Verdana"/>
                <a:cs typeface="Verdana"/>
              </a:rPr>
              <a:t>Produkte, Rabattverhalten).</a:t>
            </a:r>
            <a:endParaRPr sz="1250">
              <a:latin typeface="Verdana"/>
              <a:cs typeface="Verdana"/>
            </a:endParaRPr>
          </a:p>
        </p:txBody>
      </p:sp>
      <p:pic>
        <p:nvPicPr>
          <p:cNvPr id="5" name="object 5" descr="">
            <a:hlinkClick r:id="rId3"/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8239" y="333907"/>
            <a:ext cx="4400550" cy="441325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700" spc="-160"/>
              <a:t>Umsatz</a:t>
            </a:r>
            <a:r>
              <a:rPr dirty="0" sz="2700" spc="-295"/>
              <a:t> </a:t>
            </a:r>
            <a:r>
              <a:rPr dirty="0" sz="2700" spc="-114"/>
              <a:t>nach</a:t>
            </a:r>
            <a:r>
              <a:rPr dirty="0" sz="2700" spc="-295"/>
              <a:t> </a:t>
            </a:r>
            <a:r>
              <a:rPr dirty="0" sz="2700" spc="-25"/>
              <a:t>Ceschlecht</a:t>
            </a:r>
            <a:endParaRPr sz="2700"/>
          </a:p>
        </p:txBody>
      </p:sp>
      <p:sp>
        <p:nvSpPr>
          <p:cNvPr id="3" name="object 3" descr=""/>
          <p:cNvSpPr txBox="1"/>
          <p:nvPr/>
        </p:nvSpPr>
        <p:spPr>
          <a:xfrm>
            <a:off x="8428710" y="5165955"/>
            <a:ext cx="124460" cy="1835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000" spc="80">
                <a:solidFill>
                  <a:srgbClr val="3B3434"/>
                </a:solidFill>
                <a:latin typeface="Verdana"/>
                <a:cs typeface="Verdana"/>
              </a:rPr>
              <a:t>0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428710" y="3948270"/>
            <a:ext cx="285115" cy="1835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000" spc="25">
                <a:solidFill>
                  <a:srgbClr val="3B3434"/>
                </a:solidFill>
                <a:latin typeface="Verdana"/>
                <a:cs typeface="Verdana"/>
              </a:rPr>
              <a:t>50k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8428710" y="2730585"/>
            <a:ext cx="356235" cy="1835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000" spc="-20">
                <a:solidFill>
                  <a:srgbClr val="3B3434"/>
                </a:solidFill>
                <a:latin typeface="Verdana"/>
                <a:cs typeface="Verdana"/>
              </a:rPr>
              <a:t>100k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8192584" y="1125426"/>
            <a:ext cx="601345" cy="57086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135"/>
              </a:spcBef>
            </a:pPr>
            <a:r>
              <a:rPr dirty="0" sz="1000" spc="-10">
                <a:solidFill>
                  <a:srgbClr val="3B3434"/>
                </a:solidFill>
                <a:latin typeface="Verdana"/>
                <a:cs typeface="Verdana"/>
              </a:rPr>
              <a:t>Revenue</a:t>
            </a:r>
            <a:endParaRPr sz="1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630"/>
              </a:spcBef>
            </a:pPr>
            <a:endParaRPr sz="1000">
              <a:latin typeface="Verdana"/>
              <a:cs typeface="Verdana"/>
            </a:endParaRPr>
          </a:p>
          <a:p>
            <a:pPr algn="r" marR="29209">
              <a:lnSpc>
                <a:spcPct val="100000"/>
              </a:lnSpc>
              <a:spcBef>
                <a:spcPts val="5"/>
              </a:spcBef>
            </a:pPr>
            <a:r>
              <a:rPr dirty="0" sz="1000" spc="-20">
                <a:solidFill>
                  <a:srgbClr val="3B3434"/>
                </a:solidFill>
                <a:latin typeface="Verdana"/>
                <a:cs typeface="Verdana"/>
              </a:rPr>
              <a:t>150k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2300602" y="5371028"/>
            <a:ext cx="502284" cy="1835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000" spc="-10">
                <a:solidFill>
                  <a:srgbClr val="3B3434"/>
                </a:solidFill>
                <a:latin typeface="Verdana"/>
                <a:cs typeface="Verdana"/>
              </a:rPr>
              <a:t>Female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6264916" y="5371028"/>
            <a:ext cx="344805" cy="1835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000" spc="-20">
                <a:solidFill>
                  <a:srgbClr val="3B3434"/>
                </a:solidFill>
                <a:latin typeface="Verdana"/>
                <a:cs typeface="Verdana"/>
              </a:rPr>
              <a:t>Male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448239" y="5589945"/>
            <a:ext cx="5673725" cy="46482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r" marR="1373505">
              <a:lnSpc>
                <a:spcPct val="100000"/>
              </a:lnSpc>
              <a:spcBef>
                <a:spcPts val="135"/>
              </a:spcBef>
            </a:pPr>
            <a:r>
              <a:rPr dirty="0" sz="1000" spc="40">
                <a:solidFill>
                  <a:srgbClr val="3B3434"/>
                </a:solidFill>
                <a:latin typeface="Verdana"/>
                <a:cs typeface="Verdana"/>
              </a:rPr>
              <a:t>Cender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015"/>
              </a:spcBef>
            </a:pPr>
            <a:r>
              <a:rPr dirty="0" sz="1000">
                <a:solidFill>
                  <a:srgbClr val="3B3434"/>
                </a:solidFill>
                <a:latin typeface="Verdana"/>
                <a:cs typeface="Verdana"/>
              </a:rPr>
              <a:t>Cesamtumsatz:</a:t>
            </a:r>
            <a:r>
              <a:rPr dirty="0" sz="1000" spc="-5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1000">
                <a:solidFill>
                  <a:srgbClr val="3B3434"/>
                </a:solidFill>
                <a:latin typeface="Verdana"/>
                <a:cs typeface="Verdana"/>
              </a:rPr>
              <a:t>Male</a:t>
            </a:r>
            <a:r>
              <a:rPr dirty="0" sz="1000" spc="-5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1000" spc="-40">
                <a:solidFill>
                  <a:srgbClr val="3B3434"/>
                </a:solidFill>
                <a:latin typeface="Verdana"/>
                <a:cs typeface="Verdana"/>
              </a:rPr>
              <a:t>157.890</a:t>
            </a:r>
            <a:r>
              <a:rPr dirty="0" sz="1000" spc="-50">
                <a:solidFill>
                  <a:srgbClr val="3B3434"/>
                </a:solidFill>
                <a:latin typeface="Verdana"/>
                <a:cs typeface="Verdana"/>
              </a:rPr>
              <a:t> vs. </a:t>
            </a:r>
            <a:r>
              <a:rPr dirty="0" sz="1000">
                <a:solidFill>
                  <a:srgbClr val="3B3434"/>
                </a:solidFill>
                <a:latin typeface="Verdana"/>
                <a:cs typeface="Verdana"/>
              </a:rPr>
              <a:t>Female</a:t>
            </a:r>
            <a:r>
              <a:rPr dirty="0" sz="1000" spc="-5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1000" spc="-100">
                <a:solidFill>
                  <a:srgbClr val="3B3434"/>
                </a:solidFill>
                <a:latin typeface="Verdana"/>
                <a:cs typeface="Verdana"/>
              </a:rPr>
              <a:t>75.191</a:t>
            </a:r>
            <a:r>
              <a:rPr dirty="0" sz="1000" spc="-5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1000">
                <a:solidFill>
                  <a:srgbClr val="3B3434"/>
                </a:solidFill>
                <a:latin typeface="Verdana"/>
                <a:cs typeface="Verdana"/>
              </a:rPr>
              <a:t>(Wert</a:t>
            </a:r>
            <a:r>
              <a:rPr dirty="0" sz="1000" spc="-5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1000">
                <a:solidFill>
                  <a:srgbClr val="3B3434"/>
                </a:solidFill>
                <a:latin typeface="Verdana"/>
                <a:cs typeface="Verdana"/>
              </a:rPr>
              <a:t>in</a:t>
            </a:r>
            <a:r>
              <a:rPr dirty="0" sz="1000" spc="-5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1000">
                <a:solidFill>
                  <a:srgbClr val="3B3434"/>
                </a:solidFill>
                <a:latin typeface="Verdana"/>
                <a:cs typeface="Verdana"/>
              </a:rPr>
              <a:t>USD/Einheit</a:t>
            </a:r>
            <a:r>
              <a:rPr dirty="0" sz="1000" spc="-5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1000">
                <a:solidFill>
                  <a:srgbClr val="3B3434"/>
                </a:solidFill>
                <a:latin typeface="Verdana"/>
                <a:cs typeface="Verdana"/>
              </a:rPr>
              <a:t>wie</a:t>
            </a:r>
            <a:r>
              <a:rPr dirty="0" sz="1000" spc="-5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1000">
                <a:solidFill>
                  <a:srgbClr val="3B3434"/>
                </a:solidFill>
                <a:latin typeface="Verdana"/>
                <a:cs typeface="Verdana"/>
              </a:rPr>
              <a:t>im</a:t>
            </a:r>
            <a:r>
              <a:rPr dirty="0" sz="1000" spc="-5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1000" spc="-10">
                <a:solidFill>
                  <a:srgbClr val="3B3434"/>
                </a:solidFill>
                <a:latin typeface="Verdana"/>
                <a:cs typeface="Verdana"/>
              </a:rPr>
              <a:t>Datensatz).</a:t>
            </a:r>
            <a:endParaRPr sz="1000">
              <a:latin typeface="Verdana"/>
              <a:cs typeface="Verdana"/>
            </a:endParaRPr>
          </a:p>
        </p:txBody>
      </p:sp>
      <p:pic>
        <p:nvPicPr>
          <p:cNvPr id="10" name="object 10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8016" y="1361699"/>
            <a:ext cx="7793181" cy="3995102"/>
          </a:xfrm>
          <a:prstGeom prst="rect">
            <a:avLst/>
          </a:prstGeom>
        </p:spPr>
      </p:pic>
      <p:pic>
        <p:nvPicPr>
          <p:cNvPr id="11" name="object 11" descr="">
            <a:hlinkClick r:id="rId3"/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747055" y="6024495"/>
            <a:ext cx="1418778" cy="33890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7311" y="2311400"/>
            <a:ext cx="7332345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170"/>
              <a:t>Top</a:t>
            </a:r>
            <a:r>
              <a:rPr dirty="0" spc="-385"/>
              <a:t> </a:t>
            </a:r>
            <a:r>
              <a:rPr dirty="0" spc="-160"/>
              <a:t>Produkte</a:t>
            </a:r>
            <a:r>
              <a:rPr dirty="0" spc="-385"/>
              <a:t> </a:t>
            </a:r>
            <a:r>
              <a:rPr dirty="0" spc="110"/>
              <a:t>T</a:t>
            </a:r>
            <a:r>
              <a:rPr dirty="0" spc="-385"/>
              <a:t> </a:t>
            </a:r>
            <a:r>
              <a:rPr dirty="0" spc="-135"/>
              <a:t>Versandvergleich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0" y="3209924"/>
            <a:ext cx="1104900" cy="685800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1870278" y="3182937"/>
            <a:ext cx="3427095" cy="87249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70" b="1">
                <a:solidFill>
                  <a:srgbClr val="3B3434"/>
                </a:solidFill>
                <a:latin typeface="Verdana"/>
                <a:cs typeface="Verdana"/>
              </a:rPr>
              <a:t>Top</a:t>
            </a:r>
            <a:r>
              <a:rPr dirty="0" sz="1650" spc="-185" b="1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1650" spc="-10" b="1">
                <a:solidFill>
                  <a:srgbClr val="3B3434"/>
                </a:solidFill>
                <a:latin typeface="Verdana"/>
                <a:cs typeface="Verdana"/>
              </a:rPr>
              <a:t>Bewertete</a:t>
            </a:r>
            <a:endParaRPr sz="16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120"/>
              </a:spcBef>
            </a:pPr>
            <a:r>
              <a:rPr dirty="0" sz="1250">
                <a:solidFill>
                  <a:srgbClr val="3B3434"/>
                </a:solidFill>
                <a:latin typeface="Verdana"/>
                <a:cs typeface="Verdana"/>
              </a:rPr>
              <a:t>Cloves</a:t>
            </a:r>
            <a:r>
              <a:rPr dirty="0" sz="1250" spc="-5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1250" spc="-70">
                <a:solidFill>
                  <a:srgbClr val="3B3434"/>
                </a:solidFill>
                <a:latin typeface="Verdana"/>
                <a:cs typeface="Verdana"/>
              </a:rPr>
              <a:t>(3.86),</a:t>
            </a:r>
            <a:r>
              <a:rPr dirty="0" sz="1250">
                <a:solidFill>
                  <a:srgbClr val="3B3434"/>
                </a:solidFill>
                <a:latin typeface="Verdana"/>
                <a:cs typeface="Verdana"/>
              </a:rPr>
              <a:t> Sandals </a:t>
            </a:r>
            <a:r>
              <a:rPr dirty="0" sz="1250" spc="-75">
                <a:solidFill>
                  <a:srgbClr val="3B3434"/>
                </a:solidFill>
                <a:latin typeface="Verdana"/>
                <a:cs typeface="Verdana"/>
              </a:rPr>
              <a:t>(3.84),</a:t>
            </a:r>
            <a:r>
              <a:rPr dirty="0" sz="1250">
                <a:solidFill>
                  <a:srgbClr val="3B3434"/>
                </a:solidFill>
                <a:latin typeface="Verdana"/>
                <a:cs typeface="Verdana"/>
              </a:rPr>
              <a:t> Boots </a:t>
            </a:r>
            <a:r>
              <a:rPr dirty="0" sz="1250" spc="-30">
                <a:solidFill>
                  <a:srgbClr val="3B3434"/>
                </a:solidFill>
                <a:latin typeface="Verdana"/>
                <a:cs typeface="Verdana"/>
              </a:rPr>
              <a:t>(3.82),</a:t>
            </a:r>
            <a:endParaRPr sz="12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dirty="0" sz="1250">
                <a:solidFill>
                  <a:srgbClr val="3B3434"/>
                </a:solidFill>
                <a:latin typeface="Verdana"/>
                <a:cs typeface="Verdana"/>
              </a:rPr>
              <a:t>Hat</a:t>
            </a:r>
            <a:r>
              <a:rPr dirty="0" sz="1250" spc="-7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1250" spc="-55">
                <a:solidFill>
                  <a:srgbClr val="3B3434"/>
                </a:solidFill>
                <a:latin typeface="Verdana"/>
                <a:cs typeface="Verdana"/>
              </a:rPr>
              <a:t>(3.80),</a:t>
            </a:r>
            <a:r>
              <a:rPr dirty="0" sz="1250" spc="-7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1250">
                <a:solidFill>
                  <a:srgbClr val="3B3434"/>
                </a:solidFill>
                <a:latin typeface="Verdana"/>
                <a:cs typeface="Verdana"/>
              </a:rPr>
              <a:t>Skirt</a:t>
            </a:r>
            <a:r>
              <a:rPr dirty="0" sz="1250" spc="-7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Verdana"/>
                <a:cs typeface="Verdana"/>
              </a:rPr>
              <a:t>(3.78)</a:t>
            </a:r>
            <a:endParaRPr sz="1250">
              <a:latin typeface="Verdana"/>
              <a:cs typeface="Verdana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819775" y="3209924"/>
            <a:ext cx="1104900" cy="685800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7117054" y="3182937"/>
            <a:ext cx="3070225" cy="87249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10" b="1">
                <a:solidFill>
                  <a:srgbClr val="3B3434"/>
                </a:solidFill>
                <a:latin typeface="Verdana"/>
                <a:cs typeface="Verdana"/>
              </a:rPr>
              <a:t>Versandarten</a:t>
            </a:r>
            <a:endParaRPr sz="1650">
              <a:latin typeface="Verdana"/>
              <a:cs typeface="Verdana"/>
            </a:endParaRPr>
          </a:p>
          <a:p>
            <a:pPr marL="12700" marR="5080">
              <a:lnSpc>
                <a:spcPct val="135000"/>
              </a:lnSpc>
              <a:spcBef>
                <a:spcPts val="595"/>
              </a:spcBef>
            </a:pPr>
            <a:r>
              <a:rPr dirty="0" sz="1250">
                <a:solidFill>
                  <a:srgbClr val="3B3434"/>
                </a:solidFill>
                <a:latin typeface="Verdana"/>
                <a:cs typeface="Verdana"/>
              </a:rPr>
              <a:t>Express</a:t>
            </a:r>
            <a:r>
              <a:rPr dirty="0" sz="1250" spc="-9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1250" spc="114">
                <a:solidFill>
                  <a:srgbClr val="3B3434"/>
                </a:solidFill>
                <a:latin typeface="Verdana"/>
                <a:cs typeface="Verdana"/>
              </a:rPr>
              <a:t>Ø</a:t>
            </a:r>
            <a:r>
              <a:rPr dirty="0" sz="1250" spc="-85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1250">
                <a:solidFill>
                  <a:srgbClr val="3B3434"/>
                </a:solidFill>
                <a:latin typeface="Verdana"/>
                <a:cs typeface="Verdana"/>
              </a:rPr>
              <a:t>60.48</a:t>
            </a:r>
            <a:r>
              <a:rPr dirty="0" sz="1250" spc="-85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1250" spc="-60">
                <a:solidFill>
                  <a:srgbClr val="3B3434"/>
                </a:solidFill>
                <a:latin typeface="Verdana"/>
                <a:cs typeface="Verdana"/>
              </a:rPr>
              <a:t>vs.</a:t>
            </a:r>
            <a:r>
              <a:rPr dirty="0" sz="1250" spc="-85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1250">
                <a:solidFill>
                  <a:srgbClr val="3B3434"/>
                </a:solidFill>
                <a:latin typeface="Verdana"/>
                <a:cs typeface="Verdana"/>
              </a:rPr>
              <a:t>Standard</a:t>
            </a:r>
            <a:r>
              <a:rPr dirty="0" sz="1250" spc="-9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1250" spc="114">
                <a:solidFill>
                  <a:srgbClr val="3B3434"/>
                </a:solidFill>
                <a:latin typeface="Verdana"/>
                <a:cs typeface="Verdana"/>
              </a:rPr>
              <a:t>Ø</a:t>
            </a:r>
            <a:r>
              <a:rPr dirty="0" sz="1250" spc="-85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1250" spc="-20">
                <a:solidFill>
                  <a:srgbClr val="3B3434"/>
                </a:solidFill>
                <a:latin typeface="Verdana"/>
                <a:cs typeface="Verdana"/>
              </a:rPr>
              <a:t>58.46 </a:t>
            </a:r>
            <a:r>
              <a:rPr dirty="0" sz="1250" spc="-10">
                <a:solidFill>
                  <a:srgbClr val="3B3434"/>
                </a:solidFill>
                <a:latin typeface="Verdana"/>
                <a:cs typeface="Verdana"/>
              </a:rPr>
              <a:t>(Durchschnittsbeträge)</a:t>
            </a:r>
            <a:endParaRPr sz="1250">
              <a:latin typeface="Verdana"/>
              <a:cs typeface="Verdana"/>
            </a:endParaRPr>
          </a:p>
        </p:txBody>
      </p:sp>
      <p:pic>
        <p:nvPicPr>
          <p:cNvPr id="7" name="object 7" descr="">
            <a:hlinkClick r:id="rId4"/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43888" rIns="0" bIns="0" rtlCol="0" vert="horz">
            <a:spAutoFit/>
          </a:bodyPr>
          <a:lstStyle/>
          <a:p>
            <a:pPr marL="24130">
              <a:lnSpc>
                <a:spcPct val="100000"/>
              </a:lnSpc>
              <a:spcBef>
                <a:spcPts val="125"/>
              </a:spcBef>
            </a:pPr>
            <a:r>
              <a:rPr dirty="0" spc="-175"/>
              <a:t>Kundensegmente</a:t>
            </a:r>
            <a:r>
              <a:rPr dirty="0" spc="-350"/>
              <a:t> </a:t>
            </a:r>
            <a:r>
              <a:rPr dirty="0" spc="110"/>
              <a:t>T</a:t>
            </a:r>
            <a:r>
              <a:rPr dirty="0" spc="-345"/>
              <a:t> </a:t>
            </a:r>
            <a:r>
              <a:rPr dirty="0" spc="75"/>
              <a:t>Abo</a:t>
            </a:r>
            <a:r>
              <a:rPr dirty="0" sz="200" spc="75" b="0">
                <a:latin typeface="Ink Free"/>
                <a:cs typeface="Ink Free"/>
              </a:rPr>
              <a:t>-</a:t>
            </a:r>
            <a:r>
              <a:rPr dirty="0" spc="-10"/>
              <a:t>Status</a:t>
            </a:r>
            <a:endParaRPr sz="200">
              <a:latin typeface="Ink Free"/>
              <a:cs typeface="Ink Free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0" y="1781175"/>
            <a:ext cx="6543674" cy="3657600"/>
          </a:xfrm>
          <a:prstGeom prst="rect">
            <a:avLst/>
          </a:prstGeom>
        </p:spPr>
      </p:pic>
      <p:grpSp>
        <p:nvGrpSpPr>
          <p:cNvPr id="4" name="object 4" descr=""/>
          <p:cNvGrpSpPr/>
          <p:nvPr/>
        </p:nvGrpSpPr>
        <p:grpSpPr>
          <a:xfrm>
            <a:off x="7524750" y="1628774"/>
            <a:ext cx="3343275" cy="1038225"/>
            <a:chOff x="7524750" y="1628774"/>
            <a:chExt cx="3343275" cy="1038225"/>
          </a:xfrm>
        </p:grpSpPr>
        <p:sp>
          <p:nvSpPr>
            <p:cNvPr id="5" name="object 5" descr=""/>
            <p:cNvSpPr/>
            <p:nvPr/>
          </p:nvSpPr>
          <p:spPr>
            <a:xfrm>
              <a:off x="7529512" y="1633537"/>
              <a:ext cx="3333750" cy="1028700"/>
            </a:xfrm>
            <a:custGeom>
              <a:avLst/>
              <a:gdLst/>
              <a:ahLst/>
              <a:cxnLst/>
              <a:rect l="l" t="t" r="r" b="b"/>
              <a:pathLst>
                <a:path w="3333750" h="1028700">
                  <a:moveTo>
                    <a:pt x="3284931" y="0"/>
                  </a:moveTo>
                  <a:lnTo>
                    <a:pt x="48818" y="0"/>
                  </a:lnTo>
                  <a:lnTo>
                    <a:pt x="45415" y="330"/>
                  </a:lnTo>
                  <a:lnTo>
                    <a:pt x="10706" y="20370"/>
                  </a:lnTo>
                  <a:lnTo>
                    <a:pt x="0" y="48806"/>
                  </a:lnTo>
                  <a:lnTo>
                    <a:pt x="0" y="976452"/>
                  </a:lnTo>
                  <a:lnTo>
                    <a:pt x="0" y="979881"/>
                  </a:lnTo>
                  <a:lnTo>
                    <a:pt x="17729" y="1015822"/>
                  </a:lnTo>
                  <a:lnTo>
                    <a:pt x="48818" y="1028700"/>
                  </a:lnTo>
                  <a:lnTo>
                    <a:pt x="3284931" y="1028700"/>
                  </a:lnTo>
                  <a:lnTo>
                    <a:pt x="3320872" y="1010970"/>
                  </a:lnTo>
                  <a:lnTo>
                    <a:pt x="3333750" y="979881"/>
                  </a:lnTo>
                  <a:lnTo>
                    <a:pt x="3333750" y="48806"/>
                  </a:lnTo>
                  <a:lnTo>
                    <a:pt x="3316020" y="12877"/>
                  </a:lnTo>
                  <a:lnTo>
                    <a:pt x="3288334" y="330"/>
                  </a:lnTo>
                  <a:lnTo>
                    <a:pt x="3284931" y="0"/>
                  </a:lnTo>
                  <a:close/>
                </a:path>
              </a:pathLst>
            </a:custGeom>
            <a:solidFill>
              <a:srgbClr val="F9D2D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7529512" y="1633537"/>
              <a:ext cx="3333750" cy="1028700"/>
            </a:xfrm>
            <a:custGeom>
              <a:avLst/>
              <a:gdLst/>
              <a:ahLst/>
              <a:cxnLst/>
              <a:rect l="l" t="t" r="r" b="b"/>
              <a:pathLst>
                <a:path w="3333750" h="1028700">
                  <a:moveTo>
                    <a:pt x="0" y="976452"/>
                  </a:moveTo>
                  <a:lnTo>
                    <a:pt x="0" y="52247"/>
                  </a:lnTo>
                  <a:lnTo>
                    <a:pt x="0" y="48806"/>
                  </a:lnTo>
                  <a:lnTo>
                    <a:pt x="330" y="45415"/>
                  </a:lnTo>
                  <a:lnTo>
                    <a:pt x="1003" y="42049"/>
                  </a:lnTo>
                  <a:lnTo>
                    <a:pt x="1676" y="38684"/>
                  </a:lnTo>
                  <a:lnTo>
                    <a:pt x="2667" y="35420"/>
                  </a:lnTo>
                  <a:lnTo>
                    <a:pt x="3975" y="32258"/>
                  </a:lnTo>
                  <a:lnTo>
                    <a:pt x="5283" y="29083"/>
                  </a:lnTo>
                  <a:lnTo>
                    <a:pt x="6896" y="26073"/>
                  </a:lnTo>
                  <a:lnTo>
                    <a:pt x="8801" y="23215"/>
                  </a:lnTo>
                  <a:lnTo>
                    <a:pt x="10706" y="20370"/>
                  </a:lnTo>
                  <a:lnTo>
                    <a:pt x="12877" y="17729"/>
                  </a:lnTo>
                  <a:lnTo>
                    <a:pt x="15303" y="15303"/>
                  </a:lnTo>
                  <a:lnTo>
                    <a:pt x="17729" y="12877"/>
                  </a:lnTo>
                  <a:lnTo>
                    <a:pt x="42049" y="1003"/>
                  </a:lnTo>
                  <a:lnTo>
                    <a:pt x="45415" y="330"/>
                  </a:lnTo>
                  <a:lnTo>
                    <a:pt x="48818" y="0"/>
                  </a:lnTo>
                  <a:lnTo>
                    <a:pt x="52247" y="0"/>
                  </a:lnTo>
                  <a:lnTo>
                    <a:pt x="3281502" y="0"/>
                  </a:lnTo>
                  <a:lnTo>
                    <a:pt x="3284931" y="0"/>
                  </a:lnTo>
                  <a:lnTo>
                    <a:pt x="3288334" y="330"/>
                  </a:lnTo>
                  <a:lnTo>
                    <a:pt x="3291700" y="1003"/>
                  </a:lnTo>
                  <a:lnTo>
                    <a:pt x="3295065" y="1676"/>
                  </a:lnTo>
                  <a:lnTo>
                    <a:pt x="3310521" y="8801"/>
                  </a:lnTo>
                  <a:lnTo>
                    <a:pt x="3313379" y="10706"/>
                  </a:lnTo>
                  <a:lnTo>
                    <a:pt x="3316020" y="12877"/>
                  </a:lnTo>
                  <a:lnTo>
                    <a:pt x="3318446" y="15303"/>
                  </a:lnTo>
                  <a:lnTo>
                    <a:pt x="3320872" y="17729"/>
                  </a:lnTo>
                  <a:lnTo>
                    <a:pt x="3329774" y="32258"/>
                  </a:lnTo>
                  <a:lnTo>
                    <a:pt x="3331083" y="35420"/>
                  </a:lnTo>
                  <a:lnTo>
                    <a:pt x="3332073" y="38684"/>
                  </a:lnTo>
                  <a:lnTo>
                    <a:pt x="3332746" y="42049"/>
                  </a:lnTo>
                  <a:lnTo>
                    <a:pt x="3333407" y="45415"/>
                  </a:lnTo>
                  <a:lnTo>
                    <a:pt x="3333750" y="48806"/>
                  </a:lnTo>
                  <a:lnTo>
                    <a:pt x="3333750" y="52247"/>
                  </a:lnTo>
                  <a:lnTo>
                    <a:pt x="3333750" y="976452"/>
                  </a:lnTo>
                  <a:lnTo>
                    <a:pt x="3333750" y="979881"/>
                  </a:lnTo>
                  <a:lnTo>
                    <a:pt x="3333407" y="983284"/>
                  </a:lnTo>
                  <a:lnTo>
                    <a:pt x="3318446" y="1013396"/>
                  </a:lnTo>
                  <a:lnTo>
                    <a:pt x="3316020" y="1015822"/>
                  </a:lnTo>
                  <a:lnTo>
                    <a:pt x="3313379" y="1017993"/>
                  </a:lnTo>
                  <a:lnTo>
                    <a:pt x="3310521" y="1019898"/>
                  </a:lnTo>
                  <a:lnTo>
                    <a:pt x="3307676" y="1021803"/>
                  </a:lnTo>
                  <a:lnTo>
                    <a:pt x="3291700" y="1027696"/>
                  </a:lnTo>
                  <a:lnTo>
                    <a:pt x="3288334" y="1028369"/>
                  </a:lnTo>
                  <a:lnTo>
                    <a:pt x="3284931" y="1028700"/>
                  </a:lnTo>
                  <a:lnTo>
                    <a:pt x="3281502" y="1028700"/>
                  </a:lnTo>
                  <a:lnTo>
                    <a:pt x="52247" y="1028700"/>
                  </a:lnTo>
                  <a:lnTo>
                    <a:pt x="48818" y="1028700"/>
                  </a:lnTo>
                  <a:lnTo>
                    <a:pt x="45415" y="1028369"/>
                  </a:lnTo>
                  <a:lnTo>
                    <a:pt x="15303" y="1013396"/>
                  </a:lnTo>
                  <a:lnTo>
                    <a:pt x="12877" y="1010970"/>
                  </a:lnTo>
                  <a:lnTo>
                    <a:pt x="0" y="979881"/>
                  </a:lnTo>
                  <a:lnTo>
                    <a:pt x="0" y="976452"/>
                  </a:lnTo>
                  <a:close/>
                </a:path>
              </a:pathLst>
            </a:custGeom>
            <a:ln w="9525">
              <a:solidFill>
                <a:srgbClr val="DFB7B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7685887" y="1773237"/>
            <a:ext cx="2760980" cy="6915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10" b="1">
                <a:solidFill>
                  <a:srgbClr val="3B3434"/>
                </a:solidFill>
                <a:latin typeface="Verdana"/>
                <a:cs typeface="Verdana"/>
              </a:rPr>
              <a:t>Segmentierung</a:t>
            </a:r>
            <a:endParaRPr sz="16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720"/>
              </a:spcBef>
            </a:pPr>
            <a:r>
              <a:rPr dirty="0" sz="1250" spc="-10">
                <a:solidFill>
                  <a:srgbClr val="3B3434"/>
                </a:solidFill>
                <a:latin typeface="Verdana"/>
                <a:cs typeface="Verdana"/>
              </a:rPr>
              <a:t>Loyal</a:t>
            </a:r>
            <a:r>
              <a:rPr dirty="0" sz="1250" spc="-9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1250" spc="-140">
                <a:solidFill>
                  <a:srgbClr val="3B3434"/>
                </a:solidFill>
                <a:latin typeface="Verdana"/>
                <a:cs typeface="Verdana"/>
              </a:rPr>
              <a:t>3.116,</a:t>
            </a:r>
            <a:r>
              <a:rPr dirty="0" sz="1250" spc="-85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1250">
                <a:solidFill>
                  <a:srgbClr val="3B3434"/>
                </a:solidFill>
                <a:latin typeface="Verdana"/>
                <a:cs typeface="Verdana"/>
              </a:rPr>
              <a:t>Returning</a:t>
            </a:r>
            <a:r>
              <a:rPr dirty="0" sz="1250" spc="-9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1250" spc="-95">
                <a:solidFill>
                  <a:srgbClr val="3B3434"/>
                </a:solidFill>
                <a:latin typeface="Verdana"/>
                <a:cs typeface="Verdana"/>
              </a:rPr>
              <a:t>701,</a:t>
            </a:r>
            <a:r>
              <a:rPr dirty="0" sz="1250" spc="-85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1250" spc="55">
                <a:solidFill>
                  <a:srgbClr val="3B3434"/>
                </a:solidFill>
                <a:latin typeface="Verdana"/>
                <a:cs typeface="Verdana"/>
              </a:rPr>
              <a:t>New</a:t>
            </a:r>
            <a:r>
              <a:rPr dirty="0" sz="1250" spc="-9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1250" spc="-25">
                <a:solidFill>
                  <a:srgbClr val="3B3434"/>
                </a:solidFill>
                <a:latin typeface="Verdana"/>
                <a:cs typeface="Verdana"/>
              </a:rPr>
              <a:t>83</a:t>
            </a:r>
            <a:endParaRPr sz="1250">
              <a:latin typeface="Verdana"/>
              <a:cs typeface="Verdana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7524750" y="2828924"/>
            <a:ext cx="3343275" cy="1295400"/>
            <a:chOff x="7524750" y="2828924"/>
            <a:chExt cx="3343275" cy="1295400"/>
          </a:xfrm>
        </p:grpSpPr>
        <p:sp>
          <p:nvSpPr>
            <p:cNvPr id="9" name="object 9" descr=""/>
            <p:cNvSpPr/>
            <p:nvPr/>
          </p:nvSpPr>
          <p:spPr>
            <a:xfrm>
              <a:off x="7529512" y="2833687"/>
              <a:ext cx="3333750" cy="1285875"/>
            </a:xfrm>
            <a:custGeom>
              <a:avLst/>
              <a:gdLst/>
              <a:ahLst/>
              <a:cxnLst/>
              <a:rect l="l" t="t" r="r" b="b"/>
              <a:pathLst>
                <a:path w="3333750" h="1285875">
                  <a:moveTo>
                    <a:pt x="3284931" y="0"/>
                  </a:moveTo>
                  <a:lnTo>
                    <a:pt x="48818" y="0"/>
                  </a:lnTo>
                  <a:lnTo>
                    <a:pt x="45415" y="330"/>
                  </a:lnTo>
                  <a:lnTo>
                    <a:pt x="10706" y="20370"/>
                  </a:lnTo>
                  <a:lnTo>
                    <a:pt x="0" y="48806"/>
                  </a:lnTo>
                  <a:lnTo>
                    <a:pt x="0" y="1233627"/>
                  </a:lnTo>
                  <a:lnTo>
                    <a:pt x="0" y="1237056"/>
                  </a:lnTo>
                  <a:lnTo>
                    <a:pt x="17729" y="1272997"/>
                  </a:lnTo>
                  <a:lnTo>
                    <a:pt x="48818" y="1285875"/>
                  </a:lnTo>
                  <a:lnTo>
                    <a:pt x="3284931" y="1285875"/>
                  </a:lnTo>
                  <a:lnTo>
                    <a:pt x="3320872" y="1268145"/>
                  </a:lnTo>
                  <a:lnTo>
                    <a:pt x="3333750" y="1237056"/>
                  </a:lnTo>
                  <a:lnTo>
                    <a:pt x="3333750" y="48806"/>
                  </a:lnTo>
                  <a:lnTo>
                    <a:pt x="3316020" y="12877"/>
                  </a:lnTo>
                  <a:lnTo>
                    <a:pt x="3288334" y="330"/>
                  </a:lnTo>
                  <a:lnTo>
                    <a:pt x="3284931" y="0"/>
                  </a:lnTo>
                  <a:close/>
                </a:path>
              </a:pathLst>
            </a:custGeom>
            <a:solidFill>
              <a:srgbClr val="F9D2D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7529512" y="2833687"/>
              <a:ext cx="3333750" cy="1285875"/>
            </a:xfrm>
            <a:custGeom>
              <a:avLst/>
              <a:gdLst/>
              <a:ahLst/>
              <a:cxnLst/>
              <a:rect l="l" t="t" r="r" b="b"/>
              <a:pathLst>
                <a:path w="3333750" h="1285875">
                  <a:moveTo>
                    <a:pt x="0" y="1233627"/>
                  </a:moveTo>
                  <a:lnTo>
                    <a:pt x="0" y="52247"/>
                  </a:lnTo>
                  <a:lnTo>
                    <a:pt x="0" y="48806"/>
                  </a:lnTo>
                  <a:lnTo>
                    <a:pt x="330" y="45415"/>
                  </a:lnTo>
                  <a:lnTo>
                    <a:pt x="1003" y="42049"/>
                  </a:lnTo>
                  <a:lnTo>
                    <a:pt x="1676" y="38684"/>
                  </a:lnTo>
                  <a:lnTo>
                    <a:pt x="2667" y="35420"/>
                  </a:lnTo>
                  <a:lnTo>
                    <a:pt x="3975" y="32258"/>
                  </a:lnTo>
                  <a:lnTo>
                    <a:pt x="5283" y="29083"/>
                  </a:lnTo>
                  <a:lnTo>
                    <a:pt x="6896" y="26073"/>
                  </a:lnTo>
                  <a:lnTo>
                    <a:pt x="8801" y="23215"/>
                  </a:lnTo>
                  <a:lnTo>
                    <a:pt x="10706" y="20370"/>
                  </a:lnTo>
                  <a:lnTo>
                    <a:pt x="12877" y="17729"/>
                  </a:lnTo>
                  <a:lnTo>
                    <a:pt x="15303" y="15303"/>
                  </a:lnTo>
                  <a:lnTo>
                    <a:pt x="17729" y="12877"/>
                  </a:lnTo>
                  <a:lnTo>
                    <a:pt x="42049" y="1003"/>
                  </a:lnTo>
                  <a:lnTo>
                    <a:pt x="45415" y="330"/>
                  </a:lnTo>
                  <a:lnTo>
                    <a:pt x="48818" y="0"/>
                  </a:lnTo>
                  <a:lnTo>
                    <a:pt x="52247" y="0"/>
                  </a:lnTo>
                  <a:lnTo>
                    <a:pt x="3281502" y="0"/>
                  </a:lnTo>
                  <a:lnTo>
                    <a:pt x="3284931" y="0"/>
                  </a:lnTo>
                  <a:lnTo>
                    <a:pt x="3288334" y="330"/>
                  </a:lnTo>
                  <a:lnTo>
                    <a:pt x="3291700" y="1003"/>
                  </a:lnTo>
                  <a:lnTo>
                    <a:pt x="3295065" y="1676"/>
                  </a:lnTo>
                  <a:lnTo>
                    <a:pt x="3310521" y="8801"/>
                  </a:lnTo>
                  <a:lnTo>
                    <a:pt x="3313379" y="10706"/>
                  </a:lnTo>
                  <a:lnTo>
                    <a:pt x="3316020" y="12877"/>
                  </a:lnTo>
                  <a:lnTo>
                    <a:pt x="3318446" y="15303"/>
                  </a:lnTo>
                  <a:lnTo>
                    <a:pt x="3320872" y="17729"/>
                  </a:lnTo>
                  <a:lnTo>
                    <a:pt x="3329774" y="32258"/>
                  </a:lnTo>
                  <a:lnTo>
                    <a:pt x="3331083" y="35420"/>
                  </a:lnTo>
                  <a:lnTo>
                    <a:pt x="3332073" y="38684"/>
                  </a:lnTo>
                  <a:lnTo>
                    <a:pt x="3332746" y="42049"/>
                  </a:lnTo>
                  <a:lnTo>
                    <a:pt x="3333407" y="45415"/>
                  </a:lnTo>
                  <a:lnTo>
                    <a:pt x="3333750" y="48806"/>
                  </a:lnTo>
                  <a:lnTo>
                    <a:pt x="3333750" y="52247"/>
                  </a:lnTo>
                  <a:lnTo>
                    <a:pt x="3333750" y="1233627"/>
                  </a:lnTo>
                  <a:lnTo>
                    <a:pt x="3333750" y="1237056"/>
                  </a:lnTo>
                  <a:lnTo>
                    <a:pt x="3333407" y="1240459"/>
                  </a:lnTo>
                  <a:lnTo>
                    <a:pt x="3318446" y="1270571"/>
                  </a:lnTo>
                  <a:lnTo>
                    <a:pt x="3316020" y="1272997"/>
                  </a:lnTo>
                  <a:lnTo>
                    <a:pt x="3313379" y="1275168"/>
                  </a:lnTo>
                  <a:lnTo>
                    <a:pt x="3310521" y="1277073"/>
                  </a:lnTo>
                  <a:lnTo>
                    <a:pt x="3307676" y="1278978"/>
                  </a:lnTo>
                  <a:lnTo>
                    <a:pt x="3291700" y="1284871"/>
                  </a:lnTo>
                  <a:lnTo>
                    <a:pt x="3288334" y="1285544"/>
                  </a:lnTo>
                  <a:lnTo>
                    <a:pt x="3284931" y="1285875"/>
                  </a:lnTo>
                  <a:lnTo>
                    <a:pt x="3281502" y="1285875"/>
                  </a:lnTo>
                  <a:lnTo>
                    <a:pt x="52247" y="1285875"/>
                  </a:lnTo>
                  <a:lnTo>
                    <a:pt x="48818" y="1285875"/>
                  </a:lnTo>
                  <a:lnTo>
                    <a:pt x="45415" y="1285544"/>
                  </a:lnTo>
                  <a:lnTo>
                    <a:pt x="42049" y="1284871"/>
                  </a:lnTo>
                  <a:lnTo>
                    <a:pt x="38684" y="1284198"/>
                  </a:lnTo>
                  <a:lnTo>
                    <a:pt x="15303" y="1270571"/>
                  </a:lnTo>
                  <a:lnTo>
                    <a:pt x="12877" y="1268145"/>
                  </a:lnTo>
                  <a:lnTo>
                    <a:pt x="1003" y="1243825"/>
                  </a:lnTo>
                  <a:lnTo>
                    <a:pt x="330" y="1240459"/>
                  </a:lnTo>
                  <a:lnTo>
                    <a:pt x="0" y="1237056"/>
                  </a:lnTo>
                  <a:lnTo>
                    <a:pt x="0" y="1233627"/>
                  </a:lnTo>
                  <a:close/>
                </a:path>
              </a:pathLst>
            </a:custGeom>
            <a:ln w="9525">
              <a:solidFill>
                <a:srgbClr val="DFB7B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/>
          <p:nvPr/>
        </p:nvSpPr>
        <p:spPr>
          <a:xfrm>
            <a:off x="7685887" y="2973387"/>
            <a:ext cx="2537460" cy="94869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10" b="1">
                <a:solidFill>
                  <a:srgbClr val="3B3434"/>
                </a:solidFill>
                <a:latin typeface="Verdana"/>
                <a:cs typeface="Verdana"/>
              </a:rPr>
              <a:t>Abonnenten</a:t>
            </a:r>
            <a:endParaRPr sz="1650">
              <a:latin typeface="Verdana"/>
              <a:cs typeface="Verdana"/>
            </a:endParaRPr>
          </a:p>
          <a:p>
            <a:pPr marL="12700" marR="5080">
              <a:lnSpc>
                <a:spcPct val="135000"/>
              </a:lnSpc>
              <a:spcBef>
                <a:spcPts val="1195"/>
              </a:spcBef>
            </a:pPr>
            <a:r>
              <a:rPr dirty="0" sz="1250" spc="-60">
                <a:solidFill>
                  <a:srgbClr val="3B3434"/>
                </a:solidFill>
                <a:latin typeface="Verdana"/>
                <a:cs typeface="Verdana"/>
              </a:rPr>
              <a:t>Yes:</a:t>
            </a:r>
            <a:r>
              <a:rPr dirty="0" sz="1250" spc="-114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1250" spc="-70">
                <a:solidFill>
                  <a:srgbClr val="3B3434"/>
                </a:solidFill>
                <a:latin typeface="Verdana"/>
                <a:cs typeface="Verdana"/>
              </a:rPr>
              <a:t>1.053</a:t>
            </a:r>
            <a:r>
              <a:rPr dirty="0" sz="1250" spc="-114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Verdana"/>
                <a:cs typeface="Verdana"/>
              </a:rPr>
              <a:t>Kunden,</a:t>
            </a:r>
            <a:r>
              <a:rPr dirty="0" sz="1250" spc="-114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1250" spc="114">
                <a:solidFill>
                  <a:srgbClr val="3B3434"/>
                </a:solidFill>
                <a:latin typeface="Verdana"/>
                <a:cs typeface="Verdana"/>
              </a:rPr>
              <a:t>Ø</a:t>
            </a:r>
            <a:r>
              <a:rPr dirty="0" sz="1250" spc="-11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1250" spc="40">
                <a:solidFill>
                  <a:srgbClr val="3B3434"/>
                </a:solidFill>
                <a:latin typeface="Verdana"/>
                <a:cs typeface="Verdana"/>
              </a:rPr>
              <a:t>Spending </a:t>
            </a:r>
            <a:r>
              <a:rPr dirty="0" sz="1250" spc="-45">
                <a:solidFill>
                  <a:srgbClr val="3B3434"/>
                </a:solidFill>
                <a:latin typeface="Verdana"/>
                <a:cs typeface="Verdana"/>
              </a:rPr>
              <a:t>59.49,</a:t>
            </a:r>
            <a:r>
              <a:rPr dirty="0" sz="1250" spc="-11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1250">
                <a:solidFill>
                  <a:srgbClr val="3B3434"/>
                </a:solidFill>
                <a:latin typeface="Verdana"/>
                <a:cs typeface="Verdana"/>
              </a:rPr>
              <a:t>Total</a:t>
            </a:r>
            <a:r>
              <a:rPr dirty="0" sz="1250" spc="-11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Verdana"/>
                <a:cs typeface="Verdana"/>
              </a:rPr>
              <a:t>62.645</a:t>
            </a:r>
            <a:endParaRPr sz="1250">
              <a:latin typeface="Verdana"/>
              <a:cs typeface="Verdana"/>
            </a:endParaRPr>
          </a:p>
        </p:txBody>
      </p:sp>
      <p:grpSp>
        <p:nvGrpSpPr>
          <p:cNvPr id="12" name="object 12" descr=""/>
          <p:cNvGrpSpPr/>
          <p:nvPr/>
        </p:nvGrpSpPr>
        <p:grpSpPr>
          <a:xfrm>
            <a:off x="7524750" y="4286250"/>
            <a:ext cx="3343275" cy="1304925"/>
            <a:chOff x="7524750" y="4286250"/>
            <a:chExt cx="3343275" cy="1304925"/>
          </a:xfrm>
        </p:grpSpPr>
        <p:sp>
          <p:nvSpPr>
            <p:cNvPr id="13" name="object 13" descr=""/>
            <p:cNvSpPr/>
            <p:nvPr/>
          </p:nvSpPr>
          <p:spPr>
            <a:xfrm>
              <a:off x="7529512" y="4291012"/>
              <a:ext cx="3333750" cy="1295400"/>
            </a:xfrm>
            <a:custGeom>
              <a:avLst/>
              <a:gdLst/>
              <a:ahLst/>
              <a:cxnLst/>
              <a:rect l="l" t="t" r="r" b="b"/>
              <a:pathLst>
                <a:path w="3333750" h="1295400">
                  <a:moveTo>
                    <a:pt x="3284931" y="0"/>
                  </a:moveTo>
                  <a:lnTo>
                    <a:pt x="48818" y="0"/>
                  </a:lnTo>
                  <a:lnTo>
                    <a:pt x="45415" y="330"/>
                  </a:lnTo>
                  <a:lnTo>
                    <a:pt x="10706" y="20370"/>
                  </a:lnTo>
                  <a:lnTo>
                    <a:pt x="0" y="48806"/>
                  </a:lnTo>
                  <a:lnTo>
                    <a:pt x="0" y="1243152"/>
                  </a:lnTo>
                  <a:lnTo>
                    <a:pt x="0" y="1246585"/>
                  </a:lnTo>
                  <a:lnTo>
                    <a:pt x="17729" y="1282522"/>
                  </a:lnTo>
                  <a:lnTo>
                    <a:pt x="48818" y="1295396"/>
                  </a:lnTo>
                  <a:lnTo>
                    <a:pt x="3284931" y="1295396"/>
                  </a:lnTo>
                  <a:lnTo>
                    <a:pt x="3320872" y="1277670"/>
                  </a:lnTo>
                  <a:lnTo>
                    <a:pt x="3333750" y="1246585"/>
                  </a:lnTo>
                  <a:lnTo>
                    <a:pt x="3333750" y="48806"/>
                  </a:lnTo>
                  <a:lnTo>
                    <a:pt x="3316020" y="12877"/>
                  </a:lnTo>
                  <a:lnTo>
                    <a:pt x="3288334" y="330"/>
                  </a:lnTo>
                  <a:lnTo>
                    <a:pt x="3284931" y="0"/>
                  </a:lnTo>
                  <a:close/>
                </a:path>
              </a:pathLst>
            </a:custGeom>
            <a:solidFill>
              <a:srgbClr val="F9D2D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7529512" y="4291012"/>
              <a:ext cx="3333750" cy="1295400"/>
            </a:xfrm>
            <a:custGeom>
              <a:avLst/>
              <a:gdLst/>
              <a:ahLst/>
              <a:cxnLst/>
              <a:rect l="l" t="t" r="r" b="b"/>
              <a:pathLst>
                <a:path w="3333750" h="1295400">
                  <a:moveTo>
                    <a:pt x="0" y="1243152"/>
                  </a:moveTo>
                  <a:lnTo>
                    <a:pt x="0" y="52247"/>
                  </a:lnTo>
                  <a:lnTo>
                    <a:pt x="0" y="48806"/>
                  </a:lnTo>
                  <a:lnTo>
                    <a:pt x="330" y="45415"/>
                  </a:lnTo>
                  <a:lnTo>
                    <a:pt x="1003" y="42049"/>
                  </a:lnTo>
                  <a:lnTo>
                    <a:pt x="1676" y="38684"/>
                  </a:lnTo>
                  <a:lnTo>
                    <a:pt x="2667" y="35420"/>
                  </a:lnTo>
                  <a:lnTo>
                    <a:pt x="3975" y="32258"/>
                  </a:lnTo>
                  <a:lnTo>
                    <a:pt x="5283" y="29083"/>
                  </a:lnTo>
                  <a:lnTo>
                    <a:pt x="6896" y="26073"/>
                  </a:lnTo>
                  <a:lnTo>
                    <a:pt x="8801" y="23215"/>
                  </a:lnTo>
                  <a:lnTo>
                    <a:pt x="10706" y="20370"/>
                  </a:lnTo>
                  <a:lnTo>
                    <a:pt x="12877" y="17729"/>
                  </a:lnTo>
                  <a:lnTo>
                    <a:pt x="15303" y="15303"/>
                  </a:lnTo>
                  <a:lnTo>
                    <a:pt x="17729" y="12877"/>
                  </a:lnTo>
                  <a:lnTo>
                    <a:pt x="42049" y="1003"/>
                  </a:lnTo>
                  <a:lnTo>
                    <a:pt x="45415" y="330"/>
                  </a:lnTo>
                  <a:lnTo>
                    <a:pt x="48818" y="0"/>
                  </a:lnTo>
                  <a:lnTo>
                    <a:pt x="52247" y="0"/>
                  </a:lnTo>
                  <a:lnTo>
                    <a:pt x="3281502" y="0"/>
                  </a:lnTo>
                  <a:lnTo>
                    <a:pt x="3284931" y="0"/>
                  </a:lnTo>
                  <a:lnTo>
                    <a:pt x="3288334" y="330"/>
                  </a:lnTo>
                  <a:lnTo>
                    <a:pt x="3291700" y="1003"/>
                  </a:lnTo>
                  <a:lnTo>
                    <a:pt x="3295065" y="1676"/>
                  </a:lnTo>
                  <a:lnTo>
                    <a:pt x="3310521" y="8801"/>
                  </a:lnTo>
                  <a:lnTo>
                    <a:pt x="3313379" y="10706"/>
                  </a:lnTo>
                  <a:lnTo>
                    <a:pt x="3316020" y="12877"/>
                  </a:lnTo>
                  <a:lnTo>
                    <a:pt x="3318446" y="15303"/>
                  </a:lnTo>
                  <a:lnTo>
                    <a:pt x="3320872" y="17729"/>
                  </a:lnTo>
                  <a:lnTo>
                    <a:pt x="3329774" y="32258"/>
                  </a:lnTo>
                  <a:lnTo>
                    <a:pt x="3331083" y="35420"/>
                  </a:lnTo>
                  <a:lnTo>
                    <a:pt x="3332073" y="38684"/>
                  </a:lnTo>
                  <a:lnTo>
                    <a:pt x="3332746" y="42049"/>
                  </a:lnTo>
                  <a:lnTo>
                    <a:pt x="3333407" y="45415"/>
                  </a:lnTo>
                  <a:lnTo>
                    <a:pt x="3333750" y="48806"/>
                  </a:lnTo>
                  <a:lnTo>
                    <a:pt x="3333750" y="52247"/>
                  </a:lnTo>
                  <a:lnTo>
                    <a:pt x="3333750" y="1243152"/>
                  </a:lnTo>
                  <a:lnTo>
                    <a:pt x="3333750" y="1246585"/>
                  </a:lnTo>
                  <a:lnTo>
                    <a:pt x="3333407" y="1249983"/>
                  </a:lnTo>
                  <a:lnTo>
                    <a:pt x="3318446" y="1280096"/>
                  </a:lnTo>
                  <a:lnTo>
                    <a:pt x="3316020" y="1282522"/>
                  </a:lnTo>
                  <a:lnTo>
                    <a:pt x="3313379" y="1284685"/>
                  </a:lnTo>
                  <a:lnTo>
                    <a:pt x="3310521" y="1286595"/>
                  </a:lnTo>
                  <a:lnTo>
                    <a:pt x="3307676" y="1288500"/>
                  </a:lnTo>
                  <a:lnTo>
                    <a:pt x="3281502" y="1295401"/>
                  </a:lnTo>
                  <a:lnTo>
                    <a:pt x="52247" y="1295401"/>
                  </a:lnTo>
                  <a:lnTo>
                    <a:pt x="15303" y="1280096"/>
                  </a:lnTo>
                  <a:lnTo>
                    <a:pt x="12877" y="1277670"/>
                  </a:lnTo>
                  <a:lnTo>
                    <a:pt x="3975" y="1263144"/>
                  </a:lnTo>
                  <a:lnTo>
                    <a:pt x="2667" y="1259974"/>
                  </a:lnTo>
                  <a:lnTo>
                    <a:pt x="1676" y="1256710"/>
                  </a:lnTo>
                  <a:lnTo>
                    <a:pt x="1003" y="1253346"/>
                  </a:lnTo>
                  <a:lnTo>
                    <a:pt x="330" y="1249983"/>
                  </a:lnTo>
                  <a:lnTo>
                    <a:pt x="0" y="1246585"/>
                  </a:lnTo>
                  <a:lnTo>
                    <a:pt x="0" y="1243152"/>
                  </a:lnTo>
                  <a:close/>
                </a:path>
              </a:pathLst>
            </a:custGeom>
            <a:ln w="9525">
              <a:solidFill>
                <a:srgbClr val="DFB7B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"/>
          <p:cNvSpPr txBox="1"/>
          <p:nvPr/>
        </p:nvSpPr>
        <p:spPr>
          <a:xfrm>
            <a:off x="7685887" y="4440237"/>
            <a:ext cx="2511425" cy="93916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b="1">
                <a:solidFill>
                  <a:srgbClr val="3B3434"/>
                </a:solidFill>
                <a:latin typeface="Verdana"/>
                <a:cs typeface="Verdana"/>
              </a:rPr>
              <a:t>Nicht</a:t>
            </a:r>
            <a:r>
              <a:rPr dirty="0" sz="100">
                <a:solidFill>
                  <a:srgbClr val="3B3434"/>
                </a:solidFill>
                <a:latin typeface="Ink Free"/>
                <a:cs typeface="Ink Free"/>
              </a:rPr>
              <a:t>-</a:t>
            </a:r>
            <a:r>
              <a:rPr dirty="0" sz="1650" spc="-10" b="1">
                <a:solidFill>
                  <a:srgbClr val="3B3434"/>
                </a:solidFill>
                <a:latin typeface="Verdana"/>
                <a:cs typeface="Verdana"/>
              </a:rPr>
              <a:t>Abonnenten</a:t>
            </a:r>
            <a:endParaRPr sz="1650">
              <a:latin typeface="Verdana"/>
              <a:cs typeface="Verdana"/>
            </a:endParaRPr>
          </a:p>
          <a:p>
            <a:pPr marL="12700" marR="5080">
              <a:lnSpc>
                <a:spcPct val="135000"/>
              </a:lnSpc>
              <a:spcBef>
                <a:spcPts val="1120"/>
              </a:spcBef>
            </a:pPr>
            <a:r>
              <a:rPr dirty="0" sz="1250" spc="-10">
                <a:solidFill>
                  <a:srgbClr val="3B3434"/>
                </a:solidFill>
                <a:latin typeface="Verdana"/>
                <a:cs typeface="Verdana"/>
              </a:rPr>
              <a:t>No:</a:t>
            </a:r>
            <a:r>
              <a:rPr dirty="0" sz="1250" spc="-12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1250" spc="-55">
                <a:solidFill>
                  <a:srgbClr val="3B3434"/>
                </a:solidFill>
                <a:latin typeface="Verdana"/>
                <a:cs typeface="Verdana"/>
              </a:rPr>
              <a:t>2.847</a:t>
            </a:r>
            <a:r>
              <a:rPr dirty="0" sz="1250" spc="-114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Verdana"/>
                <a:cs typeface="Verdana"/>
              </a:rPr>
              <a:t>Kunden,</a:t>
            </a:r>
            <a:r>
              <a:rPr dirty="0" sz="1250" spc="-114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1250" spc="114">
                <a:solidFill>
                  <a:srgbClr val="3B3434"/>
                </a:solidFill>
                <a:latin typeface="Verdana"/>
                <a:cs typeface="Verdana"/>
              </a:rPr>
              <a:t>Ø</a:t>
            </a:r>
            <a:r>
              <a:rPr dirty="0" sz="1250" spc="-114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1250" spc="40">
                <a:solidFill>
                  <a:srgbClr val="3B3434"/>
                </a:solidFill>
                <a:latin typeface="Verdana"/>
                <a:cs typeface="Verdana"/>
              </a:rPr>
              <a:t>Spending </a:t>
            </a:r>
            <a:r>
              <a:rPr dirty="0" sz="1250" spc="-65">
                <a:solidFill>
                  <a:srgbClr val="3B3434"/>
                </a:solidFill>
                <a:latin typeface="Verdana"/>
                <a:cs typeface="Verdana"/>
              </a:rPr>
              <a:t>59.87,</a:t>
            </a:r>
            <a:r>
              <a:rPr dirty="0" sz="1250" spc="-11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1250">
                <a:solidFill>
                  <a:srgbClr val="3B3434"/>
                </a:solidFill>
                <a:latin typeface="Verdana"/>
                <a:cs typeface="Verdana"/>
              </a:rPr>
              <a:t>Total</a:t>
            </a:r>
            <a:r>
              <a:rPr dirty="0" sz="1250" spc="-11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Verdana"/>
                <a:cs typeface="Verdana"/>
              </a:rPr>
              <a:t>170.436</a:t>
            </a:r>
            <a:endParaRPr sz="1250">
              <a:latin typeface="Verdana"/>
              <a:cs typeface="Verdana"/>
            </a:endParaRPr>
          </a:p>
        </p:txBody>
      </p:sp>
      <p:pic>
        <p:nvPicPr>
          <p:cNvPr id="16" name="object 16" descr="">
            <a:hlinkClick r:id="rId3"/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7143750" y="253"/>
            <a:ext cx="4286250" cy="6438900"/>
            <a:chOff x="7143750" y="253"/>
            <a:chExt cx="4286250" cy="64389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43750" y="253"/>
              <a:ext cx="4286250" cy="6438645"/>
            </a:xfrm>
            <a:prstGeom prst="rect">
              <a:avLst/>
            </a:prstGeom>
          </p:spPr>
        </p:pic>
        <p:pic>
          <p:nvPicPr>
            <p:cNvPr id="4" name="object 4" descr="">
              <a:hlinkClick r:id="rId3"/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580244" y="5926073"/>
              <a:ext cx="1754504" cy="41910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57311" y="549275"/>
            <a:ext cx="3822065" cy="1073150"/>
          </a:xfrm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 marR="5080">
              <a:lnSpc>
                <a:spcPts val="4200"/>
              </a:lnSpc>
              <a:spcBef>
                <a:spcPts val="50"/>
              </a:spcBef>
            </a:pPr>
            <a:r>
              <a:rPr dirty="0" spc="-50"/>
              <a:t>Rabatt</a:t>
            </a:r>
            <a:r>
              <a:rPr dirty="0" sz="200" spc="-50" b="0">
                <a:latin typeface="Ink Free"/>
                <a:cs typeface="Ink Free"/>
              </a:rPr>
              <a:t>-</a:t>
            </a:r>
            <a:r>
              <a:rPr dirty="0" sz="200" spc="225" b="0">
                <a:latin typeface="Ink Free"/>
                <a:cs typeface="Ink Free"/>
              </a:rPr>
              <a:t>  </a:t>
            </a:r>
            <a:r>
              <a:rPr dirty="0" spc="-25"/>
              <a:t>und </a:t>
            </a:r>
            <a:r>
              <a:rPr dirty="0" spc="-175"/>
              <a:t>Umsatzmechanik</a:t>
            </a:r>
            <a:endParaRPr sz="200">
              <a:latin typeface="Ink Free"/>
              <a:cs typeface="Ink Free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571500" y="1895474"/>
            <a:ext cx="161925" cy="1209675"/>
            <a:chOff x="571500" y="1895474"/>
            <a:chExt cx="161925" cy="1209675"/>
          </a:xfrm>
        </p:grpSpPr>
        <p:sp>
          <p:nvSpPr>
            <p:cNvPr id="7" name="object 7" descr=""/>
            <p:cNvSpPr/>
            <p:nvPr/>
          </p:nvSpPr>
          <p:spPr>
            <a:xfrm>
              <a:off x="576262" y="1900237"/>
              <a:ext cx="152400" cy="1200150"/>
            </a:xfrm>
            <a:custGeom>
              <a:avLst/>
              <a:gdLst/>
              <a:ahLst/>
              <a:cxnLst/>
              <a:rect l="l" t="t" r="r" b="b"/>
              <a:pathLst>
                <a:path w="152400" h="1200150">
                  <a:moveTo>
                    <a:pt x="103585" y="0"/>
                  </a:moveTo>
                  <a:lnTo>
                    <a:pt x="48816" y="0"/>
                  </a:lnTo>
                  <a:lnTo>
                    <a:pt x="45417" y="330"/>
                  </a:lnTo>
                  <a:lnTo>
                    <a:pt x="10711" y="20370"/>
                  </a:lnTo>
                  <a:lnTo>
                    <a:pt x="0" y="48806"/>
                  </a:lnTo>
                  <a:lnTo>
                    <a:pt x="0" y="1147902"/>
                  </a:lnTo>
                  <a:lnTo>
                    <a:pt x="0" y="1151331"/>
                  </a:lnTo>
                  <a:lnTo>
                    <a:pt x="17725" y="1187272"/>
                  </a:lnTo>
                  <a:lnTo>
                    <a:pt x="48816" y="1200150"/>
                  </a:lnTo>
                  <a:lnTo>
                    <a:pt x="103585" y="1200150"/>
                  </a:lnTo>
                  <a:lnTo>
                    <a:pt x="139520" y="1182420"/>
                  </a:lnTo>
                  <a:lnTo>
                    <a:pt x="152400" y="1151331"/>
                  </a:lnTo>
                  <a:lnTo>
                    <a:pt x="152400" y="48806"/>
                  </a:lnTo>
                  <a:lnTo>
                    <a:pt x="134669" y="12877"/>
                  </a:lnTo>
                  <a:lnTo>
                    <a:pt x="106982" y="330"/>
                  </a:lnTo>
                  <a:lnTo>
                    <a:pt x="103585" y="0"/>
                  </a:lnTo>
                  <a:close/>
                </a:path>
              </a:pathLst>
            </a:custGeom>
            <a:solidFill>
              <a:srgbClr val="F9D2D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576262" y="1900237"/>
              <a:ext cx="152400" cy="1200150"/>
            </a:xfrm>
            <a:custGeom>
              <a:avLst/>
              <a:gdLst/>
              <a:ahLst/>
              <a:cxnLst/>
              <a:rect l="l" t="t" r="r" b="b"/>
              <a:pathLst>
                <a:path w="152400" h="1200150">
                  <a:moveTo>
                    <a:pt x="0" y="1147902"/>
                  </a:moveTo>
                  <a:lnTo>
                    <a:pt x="0" y="52247"/>
                  </a:lnTo>
                  <a:lnTo>
                    <a:pt x="0" y="48806"/>
                  </a:lnTo>
                  <a:lnTo>
                    <a:pt x="332" y="45415"/>
                  </a:lnTo>
                  <a:lnTo>
                    <a:pt x="1002" y="42049"/>
                  </a:lnTo>
                  <a:lnTo>
                    <a:pt x="1671" y="38684"/>
                  </a:lnTo>
                  <a:lnTo>
                    <a:pt x="2664" y="35420"/>
                  </a:lnTo>
                  <a:lnTo>
                    <a:pt x="3978" y="32258"/>
                  </a:lnTo>
                  <a:lnTo>
                    <a:pt x="5288" y="29083"/>
                  </a:lnTo>
                  <a:lnTo>
                    <a:pt x="15304" y="15303"/>
                  </a:lnTo>
                  <a:lnTo>
                    <a:pt x="17725" y="12877"/>
                  </a:lnTo>
                  <a:lnTo>
                    <a:pt x="20364" y="10706"/>
                  </a:lnTo>
                  <a:lnTo>
                    <a:pt x="23216" y="8801"/>
                  </a:lnTo>
                  <a:lnTo>
                    <a:pt x="26069" y="6896"/>
                  </a:lnTo>
                  <a:lnTo>
                    <a:pt x="29080" y="5283"/>
                  </a:lnTo>
                  <a:lnTo>
                    <a:pt x="32251" y="3975"/>
                  </a:lnTo>
                  <a:lnTo>
                    <a:pt x="35421" y="2667"/>
                  </a:lnTo>
                  <a:lnTo>
                    <a:pt x="38685" y="1676"/>
                  </a:lnTo>
                  <a:lnTo>
                    <a:pt x="42053" y="1003"/>
                  </a:lnTo>
                  <a:lnTo>
                    <a:pt x="45417" y="330"/>
                  </a:lnTo>
                  <a:lnTo>
                    <a:pt x="48816" y="0"/>
                  </a:lnTo>
                  <a:lnTo>
                    <a:pt x="52243" y="0"/>
                  </a:lnTo>
                  <a:lnTo>
                    <a:pt x="100156" y="0"/>
                  </a:lnTo>
                  <a:lnTo>
                    <a:pt x="103585" y="0"/>
                  </a:lnTo>
                  <a:lnTo>
                    <a:pt x="106982" y="330"/>
                  </a:lnTo>
                  <a:lnTo>
                    <a:pt x="110346" y="1003"/>
                  </a:lnTo>
                  <a:lnTo>
                    <a:pt x="113714" y="1676"/>
                  </a:lnTo>
                  <a:lnTo>
                    <a:pt x="116978" y="2667"/>
                  </a:lnTo>
                  <a:lnTo>
                    <a:pt x="120148" y="3975"/>
                  </a:lnTo>
                  <a:lnTo>
                    <a:pt x="123319" y="5283"/>
                  </a:lnTo>
                  <a:lnTo>
                    <a:pt x="148421" y="32258"/>
                  </a:lnTo>
                  <a:lnTo>
                    <a:pt x="149735" y="35420"/>
                  </a:lnTo>
                  <a:lnTo>
                    <a:pt x="150728" y="38684"/>
                  </a:lnTo>
                  <a:lnTo>
                    <a:pt x="151397" y="42049"/>
                  </a:lnTo>
                  <a:lnTo>
                    <a:pt x="152067" y="45415"/>
                  </a:lnTo>
                  <a:lnTo>
                    <a:pt x="152400" y="48806"/>
                  </a:lnTo>
                  <a:lnTo>
                    <a:pt x="152400" y="52247"/>
                  </a:lnTo>
                  <a:lnTo>
                    <a:pt x="152400" y="1147902"/>
                  </a:lnTo>
                  <a:lnTo>
                    <a:pt x="152400" y="1151331"/>
                  </a:lnTo>
                  <a:lnTo>
                    <a:pt x="152067" y="1154734"/>
                  </a:lnTo>
                  <a:lnTo>
                    <a:pt x="137095" y="1184846"/>
                  </a:lnTo>
                  <a:lnTo>
                    <a:pt x="134669" y="1187272"/>
                  </a:lnTo>
                  <a:lnTo>
                    <a:pt x="110346" y="1199146"/>
                  </a:lnTo>
                  <a:lnTo>
                    <a:pt x="106982" y="1199819"/>
                  </a:lnTo>
                  <a:lnTo>
                    <a:pt x="103585" y="1200150"/>
                  </a:lnTo>
                  <a:lnTo>
                    <a:pt x="100156" y="1200150"/>
                  </a:lnTo>
                  <a:lnTo>
                    <a:pt x="52243" y="1200150"/>
                  </a:lnTo>
                  <a:lnTo>
                    <a:pt x="48816" y="1200150"/>
                  </a:lnTo>
                  <a:lnTo>
                    <a:pt x="45417" y="1199819"/>
                  </a:lnTo>
                  <a:lnTo>
                    <a:pt x="42053" y="1199146"/>
                  </a:lnTo>
                  <a:lnTo>
                    <a:pt x="38685" y="1198473"/>
                  </a:lnTo>
                  <a:lnTo>
                    <a:pt x="23216" y="1191348"/>
                  </a:lnTo>
                  <a:lnTo>
                    <a:pt x="20364" y="1189443"/>
                  </a:lnTo>
                  <a:lnTo>
                    <a:pt x="17725" y="1187272"/>
                  </a:lnTo>
                  <a:lnTo>
                    <a:pt x="15304" y="1184846"/>
                  </a:lnTo>
                  <a:lnTo>
                    <a:pt x="12879" y="1182420"/>
                  </a:lnTo>
                  <a:lnTo>
                    <a:pt x="0" y="1151331"/>
                  </a:lnTo>
                  <a:lnTo>
                    <a:pt x="0" y="1147902"/>
                  </a:lnTo>
                  <a:close/>
                </a:path>
              </a:pathLst>
            </a:custGeom>
            <a:ln w="9525">
              <a:solidFill>
                <a:srgbClr val="DFB7B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9" name="object 9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14697" y="2098675"/>
            <a:ext cx="133350" cy="158750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882947" y="2030412"/>
            <a:ext cx="5118100" cy="8820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84150">
              <a:lnSpc>
                <a:spcPct val="100000"/>
              </a:lnSpc>
              <a:spcBef>
                <a:spcPts val="135"/>
              </a:spcBef>
            </a:pPr>
            <a:r>
              <a:rPr dirty="0" sz="1650" spc="-55" b="1">
                <a:solidFill>
                  <a:srgbClr val="3B3434"/>
                </a:solidFill>
                <a:latin typeface="Verdana"/>
                <a:cs typeface="Verdana"/>
              </a:rPr>
              <a:t>ohe</a:t>
            </a:r>
            <a:r>
              <a:rPr dirty="0" sz="1650" spc="-150" b="1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1650" spc="-85" b="1">
                <a:solidFill>
                  <a:srgbClr val="3B3434"/>
                </a:solidFill>
                <a:latin typeface="Verdana"/>
                <a:cs typeface="Verdana"/>
              </a:rPr>
              <a:t>Verbraucher</a:t>
            </a:r>
            <a:r>
              <a:rPr dirty="0" sz="1650" spc="-145" b="1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1650" spc="-75" b="1">
                <a:solidFill>
                  <a:srgbClr val="3B3434"/>
                </a:solidFill>
                <a:latin typeface="Verdana"/>
                <a:cs typeface="Verdana"/>
              </a:rPr>
              <a:t>trotz</a:t>
            </a:r>
            <a:r>
              <a:rPr dirty="0" sz="1650" spc="-150" b="1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1650" spc="-10" b="1">
                <a:solidFill>
                  <a:srgbClr val="3B3434"/>
                </a:solidFill>
                <a:latin typeface="Verdana"/>
                <a:cs typeface="Verdana"/>
              </a:rPr>
              <a:t>Rabatt</a:t>
            </a:r>
            <a:endParaRPr sz="1650">
              <a:latin typeface="Verdana"/>
              <a:cs typeface="Verdana"/>
            </a:endParaRPr>
          </a:p>
          <a:p>
            <a:pPr marL="12700" marR="5080">
              <a:lnSpc>
                <a:spcPct val="135000"/>
              </a:lnSpc>
              <a:spcBef>
                <a:spcPts val="670"/>
              </a:spcBef>
            </a:pPr>
            <a:r>
              <a:rPr dirty="0" sz="1250" spc="-10">
                <a:solidFill>
                  <a:srgbClr val="3B3434"/>
                </a:solidFill>
                <a:latin typeface="Verdana"/>
                <a:cs typeface="Verdana"/>
              </a:rPr>
              <a:t>839</a:t>
            </a:r>
            <a:r>
              <a:rPr dirty="0" sz="1250" spc="15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1250">
                <a:solidFill>
                  <a:srgbClr val="3B3434"/>
                </a:solidFill>
                <a:latin typeface="Verdana"/>
                <a:cs typeface="Verdana"/>
              </a:rPr>
              <a:t>Zeilen</a:t>
            </a:r>
            <a:r>
              <a:rPr dirty="0" sz="1250" spc="15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1250">
                <a:solidFill>
                  <a:srgbClr val="3B3434"/>
                </a:solidFill>
                <a:latin typeface="Verdana"/>
                <a:cs typeface="Verdana"/>
              </a:rPr>
              <a:t>identifiziert</a:t>
            </a:r>
            <a:r>
              <a:rPr dirty="0" sz="1250" spc="2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1250">
                <a:solidFill>
                  <a:srgbClr val="3B3434"/>
                </a:solidFill>
                <a:latin typeface="Verdana"/>
                <a:cs typeface="Verdana"/>
              </a:rPr>
              <a:t>mit</a:t>
            </a:r>
            <a:r>
              <a:rPr dirty="0" sz="1250" spc="15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1250">
                <a:solidFill>
                  <a:srgbClr val="3B3434"/>
                </a:solidFill>
                <a:latin typeface="Verdana"/>
                <a:cs typeface="Verdana"/>
              </a:rPr>
              <a:t>Rabattnutzung</a:t>
            </a:r>
            <a:r>
              <a:rPr dirty="0" sz="1250" spc="15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1250" spc="-25">
                <a:solidFill>
                  <a:srgbClr val="3B3434"/>
                </a:solidFill>
                <a:latin typeface="Verdana"/>
                <a:cs typeface="Verdana"/>
              </a:rPr>
              <a:t>und </a:t>
            </a:r>
            <a:r>
              <a:rPr dirty="0" sz="1250">
                <a:solidFill>
                  <a:srgbClr val="3B3434"/>
                </a:solidFill>
                <a:latin typeface="Verdana"/>
                <a:cs typeface="Verdana"/>
              </a:rPr>
              <a:t>überdurchschnittlichen</a:t>
            </a:r>
            <a:r>
              <a:rPr dirty="0" sz="1250" spc="14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1250">
                <a:solidFill>
                  <a:srgbClr val="3B3434"/>
                </a:solidFill>
                <a:latin typeface="Verdana"/>
                <a:cs typeface="Verdana"/>
              </a:rPr>
              <a:t>Käufen</a:t>
            </a:r>
            <a:r>
              <a:rPr dirty="0" sz="1250" spc="14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Verdana"/>
                <a:cs typeface="Verdana"/>
              </a:rPr>
              <a:t>(Beispiele:</a:t>
            </a:r>
            <a:r>
              <a:rPr dirty="0" sz="1250" spc="14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1250">
                <a:solidFill>
                  <a:srgbClr val="3B3434"/>
                </a:solidFill>
                <a:latin typeface="Verdana"/>
                <a:cs typeface="Verdana"/>
              </a:rPr>
              <a:t>customer_id</a:t>
            </a:r>
            <a:r>
              <a:rPr dirty="0" sz="1250" spc="145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1250" spc="-50">
                <a:solidFill>
                  <a:srgbClr val="3B3434"/>
                </a:solidFill>
                <a:latin typeface="Verdana"/>
                <a:cs typeface="Verdana"/>
              </a:rPr>
              <a:t>2,3,4...)</a:t>
            </a:r>
            <a:endParaRPr sz="1250">
              <a:latin typeface="Verdana"/>
              <a:cs typeface="Verdana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809625" y="3267075"/>
            <a:ext cx="171450" cy="1219200"/>
            <a:chOff x="809625" y="3267075"/>
            <a:chExt cx="171450" cy="1219200"/>
          </a:xfrm>
        </p:grpSpPr>
        <p:sp>
          <p:nvSpPr>
            <p:cNvPr id="12" name="object 12" descr=""/>
            <p:cNvSpPr/>
            <p:nvPr/>
          </p:nvSpPr>
          <p:spPr>
            <a:xfrm>
              <a:off x="814387" y="3271837"/>
              <a:ext cx="161925" cy="1209675"/>
            </a:xfrm>
            <a:custGeom>
              <a:avLst/>
              <a:gdLst/>
              <a:ahLst/>
              <a:cxnLst/>
              <a:rect l="l" t="t" r="r" b="b"/>
              <a:pathLst>
                <a:path w="161925" h="1209675">
                  <a:moveTo>
                    <a:pt x="113110" y="0"/>
                  </a:moveTo>
                  <a:lnTo>
                    <a:pt x="48816" y="0"/>
                  </a:lnTo>
                  <a:lnTo>
                    <a:pt x="45417" y="330"/>
                  </a:lnTo>
                  <a:lnTo>
                    <a:pt x="10711" y="20370"/>
                  </a:lnTo>
                  <a:lnTo>
                    <a:pt x="0" y="48806"/>
                  </a:lnTo>
                  <a:lnTo>
                    <a:pt x="0" y="1157427"/>
                  </a:lnTo>
                  <a:lnTo>
                    <a:pt x="0" y="1160856"/>
                  </a:lnTo>
                  <a:lnTo>
                    <a:pt x="17725" y="1196797"/>
                  </a:lnTo>
                  <a:lnTo>
                    <a:pt x="48816" y="1209675"/>
                  </a:lnTo>
                  <a:lnTo>
                    <a:pt x="113110" y="1209675"/>
                  </a:lnTo>
                  <a:lnTo>
                    <a:pt x="149045" y="1191945"/>
                  </a:lnTo>
                  <a:lnTo>
                    <a:pt x="161925" y="1160856"/>
                  </a:lnTo>
                  <a:lnTo>
                    <a:pt x="161925" y="48806"/>
                  </a:lnTo>
                  <a:lnTo>
                    <a:pt x="144199" y="12877"/>
                  </a:lnTo>
                  <a:lnTo>
                    <a:pt x="116507" y="330"/>
                  </a:lnTo>
                  <a:lnTo>
                    <a:pt x="113110" y="0"/>
                  </a:lnTo>
                  <a:close/>
                </a:path>
              </a:pathLst>
            </a:custGeom>
            <a:solidFill>
              <a:srgbClr val="F9D2D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814387" y="3271837"/>
              <a:ext cx="161925" cy="1209675"/>
            </a:xfrm>
            <a:custGeom>
              <a:avLst/>
              <a:gdLst/>
              <a:ahLst/>
              <a:cxnLst/>
              <a:rect l="l" t="t" r="r" b="b"/>
              <a:pathLst>
                <a:path w="161925" h="1209675">
                  <a:moveTo>
                    <a:pt x="0" y="1157427"/>
                  </a:moveTo>
                  <a:lnTo>
                    <a:pt x="0" y="52247"/>
                  </a:lnTo>
                  <a:lnTo>
                    <a:pt x="0" y="48806"/>
                  </a:lnTo>
                  <a:lnTo>
                    <a:pt x="332" y="45415"/>
                  </a:lnTo>
                  <a:lnTo>
                    <a:pt x="1002" y="42049"/>
                  </a:lnTo>
                  <a:lnTo>
                    <a:pt x="1671" y="38684"/>
                  </a:lnTo>
                  <a:lnTo>
                    <a:pt x="2664" y="35420"/>
                  </a:lnTo>
                  <a:lnTo>
                    <a:pt x="3978" y="32258"/>
                  </a:lnTo>
                  <a:lnTo>
                    <a:pt x="5288" y="29083"/>
                  </a:lnTo>
                  <a:lnTo>
                    <a:pt x="15304" y="15303"/>
                  </a:lnTo>
                  <a:lnTo>
                    <a:pt x="17725" y="12877"/>
                  </a:lnTo>
                  <a:lnTo>
                    <a:pt x="32251" y="3975"/>
                  </a:lnTo>
                  <a:lnTo>
                    <a:pt x="35421" y="2667"/>
                  </a:lnTo>
                  <a:lnTo>
                    <a:pt x="38685" y="1676"/>
                  </a:lnTo>
                  <a:lnTo>
                    <a:pt x="42053" y="1003"/>
                  </a:lnTo>
                  <a:lnTo>
                    <a:pt x="45417" y="330"/>
                  </a:lnTo>
                  <a:lnTo>
                    <a:pt x="48816" y="0"/>
                  </a:lnTo>
                  <a:lnTo>
                    <a:pt x="52243" y="0"/>
                  </a:lnTo>
                  <a:lnTo>
                    <a:pt x="109681" y="0"/>
                  </a:lnTo>
                  <a:lnTo>
                    <a:pt x="113110" y="0"/>
                  </a:lnTo>
                  <a:lnTo>
                    <a:pt x="116507" y="330"/>
                  </a:lnTo>
                  <a:lnTo>
                    <a:pt x="119871" y="1003"/>
                  </a:lnTo>
                  <a:lnTo>
                    <a:pt x="123239" y="1676"/>
                  </a:lnTo>
                  <a:lnTo>
                    <a:pt x="126503" y="2667"/>
                  </a:lnTo>
                  <a:lnTo>
                    <a:pt x="129673" y="3975"/>
                  </a:lnTo>
                  <a:lnTo>
                    <a:pt x="132844" y="5283"/>
                  </a:lnTo>
                  <a:lnTo>
                    <a:pt x="146620" y="15303"/>
                  </a:lnTo>
                  <a:lnTo>
                    <a:pt x="149045" y="17729"/>
                  </a:lnTo>
                  <a:lnTo>
                    <a:pt x="157946" y="32258"/>
                  </a:lnTo>
                  <a:lnTo>
                    <a:pt x="159260" y="35420"/>
                  </a:lnTo>
                  <a:lnTo>
                    <a:pt x="160253" y="38684"/>
                  </a:lnTo>
                  <a:lnTo>
                    <a:pt x="160922" y="42049"/>
                  </a:lnTo>
                  <a:lnTo>
                    <a:pt x="161592" y="45415"/>
                  </a:lnTo>
                  <a:lnTo>
                    <a:pt x="161925" y="48806"/>
                  </a:lnTo>
                  <a:lnTo>
                    <a:pt x="161925" y="52247"/>
                  </a:lnTo>
                  <a:lnTo>
                    <a:pt x="161925" y="1157427"/>
                  </a:lnTo>
                  <a:lnTo>
                    <a:pt x="161925" y="1160856"/>
                  </a:lnTo>
                  <a:lnTo>
                    <a:pt x="161592" y="1164259"/>
                  </a:lnTo>
                  <a:lnTo>
                    <a:pt x="160922" y="1167625"/>
                  </a:lnTo>
                  <a:lnTo>
                    <a:pt x="160253" y="1170990"/>
                  </a:lnTo>
                  <a:lnTo>
                    <a:pt x="146620" y="1194371"/>
                  </a:lnTo>
                  <a:lnTo>
                    <a:pt x="144199" y="1196797"/>
                  </a:lnTo>
                  <a:lnTo>
                    <a:pt x="119871" y="1208671"/>
                  </a:lnTo>
                  <a:lnTo>
                    <a:pt x="116507" y="1209344"/>
                  </a:lnTo>
                  <a:lnTo>
                    <a:pt x="113110" y="1209675"/>
                  </a:lnTo>
                  <a:lnTo>
                    <a:pt x="109681" y="1209675"/>
                  </a:lnTo>
                  <a:lnTo>
                    <a:pt x="52243" y="1209675"/>
                  </a:lnTo>
                  <a:lnTo>
                    <a:pt x="48816" y="1209675"/>
                  </a:lnTo>
                  <a:lnTo>
                    <a:pt x="45417" y="1209344"/>
                  </a:lnTo>
                  <a:lnTo>
                    <a:pt x="42053" y="1208671"/>
                  </a:lnTo>
                  <a:lnTo>
                    <a:pt x="38685" y="1207998"/>
                  </a:lnTo>
                  <a:lnTo>
                    <a:pt x="15304" y="1194371"/>
                  </a:lnTo>
                  <a:lnTo>
                    <a:pt x="12879" y="1191945"/>
                  </a:lnTo>
                  <a:lnTo>
                    <a:pt x="1002" y="1167625"/>
                  </a:lnTo>
                  <a:lnTo>
                    <a:pt x="332" y="1164259"/>
                  </a:lnTo>
                  <a:lnTo>
                    <a:pt x="0" y="1160856"/>
                  </a:lnTo>
                  <a:lnTo>
                    <a:pt x="0" y="1157427"/>
                  </a:lnTo>
                  <a:close/>
                </a:path>
              </a:pathLst>
            </a:custGeom>
            <a:ln w="9525">
              <a:solidFill>
                <a:srgbClr val="DFB7B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 txBox="1"/>
          <p:nvPr/>
        </p:nvSpPr>
        <p:spPr>
          <a:xfrm>
            <a:off x="1127174" y="3411537"/>
            <a:ext cx="5160645" cy="87249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65" b="1">
                <a:solidFill>
                  <a:srgbClr val="3B3434"/>
                </a:solidFill>
                <a:latin typeface="Verdana"/>
                <a:cs typeface="Verdana"/>
              </a:rPr>
              <a:t>Produkte</a:t>
            </a:r>
            <a:r>
              <a:rPr dirty="0" sz="1650" spc="-160" b="1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1650" spc="-60" b="1">
                <a:solidFill>
                  <a:srgbClr val="3B3434"/>
                </a:solidFill>
                <a:latin typeface="Verdana"/>
                <a:cs typeface="Verdana"/>
              </a:rPr>
              <a:t>mit</a:t>
            </a:r>
            <a:r>
              <a:rPr dirty="0" sz="1650" spc="-160" b="1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1650" spc="-70" b="1">
                <a:solidFill>
                  <a:srgbClr val="3B3434"/>
                </a:solidFill>
                <a:latin typeface="Verdana"/>
                <a:cs typeface="Verdana"/>
              </a:rPr>
              <a:t>hohem</a:t>
            </a:r>
            <a:r>
              <a:rPr dirty="0" sz="1650" spc="-160" b="1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1650" spc="-10" b="1">
                <a:solidFill>
                  <a:srgbClr val="3B3434"/>
                </a:solidFill>
                <a:latin typeface="Verdana"/>
                <a:cs typeface="Verdana"/>
              </a:rPr>
              <a:t>Rabattanteil</a:t>
            </a:r>
            <a:endParaRPr sz="1650">
              <a:latin typeface="Verdana"/>
              <a:cs typeface="Verdana"/>
            </a:endParaRPr>
          </a:p>
          <a:p>
            <a:pPr marL="12700" marR="5080">
              <a:lnSpc>
                <a:spcPct val="135000"/>
              </a:lnSpc>
              <a:spcBef>
                <a:spcPts val="595"/>
              </a:spcBef>
            </a:pPr>
            <a:r>
              <a:rPr dirty="0" sz="1250">
                <a:solidFill>
                  <a:srgbClr val="3B3434"/>
                </a:solidFill>
                <a:latin typeface="Verdana"/>
                <a:cs typeface="Verdana"/>
              </a:rPr>
              <a:t>Blouse,</a:t>
            </a:r>
            <a:r>
              <a:rPr dirty="0" sz="1250" spc="-65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1250">
                <a:solidFill>
                  <a:srgbClr val="3B3434"/>
                </a:solidFill>
                <a:latin typeface="Verdana"/>
                <a:cs typeface="Verdana"/>
              </a:rPr>
              <a:t>Shirt,</a:t>
            </a:r>
            <a:r>
              <a:rPr dirty="0" sz="1250" spc="-6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Verdana"/>
                <a:cs typeface="Verdana"/>
              </a:rPr>
              <a:t>Dress,</a:t>
            </a:r>
            <a:r>
              <a:rPr dirty="0" sz="1250" spc="-6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Verdana"/>
                <a:cs typeface="Verdana"/>
              </a:rPr>
              <a:t>Pants,</a:t>
            </a:r>
            <a:r>
              <a:rPr dirty="0" sz="1250" spc="-65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1250">
                <a:solidFill>
                  <a:srgbClr val="3B3434"/>
                </a:solidFill>
                <a:latin typeface="Verdana"/>
                <a:cs typeface="Verdana"/>
              </a:rPr>
              <a:t>Jewelry</a:t>
            </a:r>
            <a:r>
              <a:rPr dirty="0" sz="1250" spc="-6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1250" spc="340">
                <a:solidFill>
                  <a:srgbClr val="3B3434"/>
                </a:solidFill>
                <a:latin typeface="Verdana"/>
                <a:cs typeface="Verdana"/>
              </a:rPr>
              <a:t>4</a:t>
            </a:r>
            <a:r>
              <a:rPr dirty="0" sz="1250" spc="-6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1250">
                <a:solidFill>
                  <a:srgbClr val="3B3434"/>
                </a:solidFill>
                <a:latin typeface="Verdana"/>
                <a:cs typeface="Verdana"/>
              </a:rPr>
              <a:t>signifikante</a:t>
            </a:r>
            <a:r>
              <a:rPr dirty="0" sz="1250" spc="-65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Verdana"/>
                <a:cs typeface="Verdana"/>
              </a:rPr>
              <a:t>Rabattanteile (33–47%)</a:t>
            </a:r>
            <a:endParaRPr sz="1250">
              <a:latin typeface="Verdana"/>
              <a:cs typeface="Verdana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1057275" y="4648200"/>
            <a:ext cx="161925" cy="1209675"/>
            <a:chOff x="1057275" y="4648200"/>
            <a:chExt cx="161925" cy="1209675"/>
          </a:xfrm>
        </p:grpSpPr>
        <p:sp>
          <p:nvSpPr>
            <p:cNvPr id="16" name="object 16" descr=""/>
            <p:cNvSpPr/>
            <p:nvPr/>
          </p:nvSpPr>
          <p:spPr>
            <a:xfrm>
              <a:off x="1062037" y="4652962"/>
              <a:ext cx="152400" cy="1200150"/>
            </a:xfrm>
            <a:custGeom>
              <a:avLst/>
              <a:gdLst/>
              <a:ahLst/>
              <a:cxnLst/>
              <a:rect l="l" t="t" r="r" b="b"/>
              <a:pathLst>
                <a:path w="152400" h="1200150">
                  <a:moveTo>
                    <a:pt x="103585" y="0"/>
                  </a:moveTo>
                  <a:lnTo>
                    <a:pt x="48816" y="0"/>
                  </a:lnTo>
                  <a:lnTo>
                    <a:pt x="45417" y="330"/>
                  </a:lnTo>
                  <a:lnTo>
                    <a:pt x="10711" y="20370"/>
                  </a:lnTo>
                  <a:lnTo>
                    <a:pt x="0" y="48806"/>
                  </a:lnTo>
                  <a:lnTo>
                    <a:pt x="0" y="1147902"/>
                  </a:lnTo>
                  <a:lnTo>
                    <a:pt x="0" y="1151335"/>
                  </a:lnTo>
                  <a:lnTo>
                    <a:pt x="17725" y="1187272"/>
                  </a:lnTo>
                  <a:lnTo>
                    <a:pt x="48816" y="1200146"/>
                  </a:lnTo>
                  <a:lnTo>
                    <a:pt x="103585" y="1200146"/>
                  </a:lnTo>
                  <a:lnTo>
                    <a:pt x="139520" y="1182420"/>
                  </a:lnTo>
                  <a:lnTo>
                    <a:pt x="152400" y="1151335"/>
                  </a:lnTo>
                  <a:lnTo>
                    <a:pt x="152400" y="48806"/>
                  </a:lnTo>
                  <a:lnTo>
                    <a:pt x="134669" y="12877"/>
                  </a:lnTo>
                  <a:lnTo>
                    <a:pt x="106982" y="330"/>
                  </a:lnTo>
                  <a:lnTo>
                    <a:pt x="103585" y="0"/>
                  </a:lnTo>
                  <a:close/>
                </a:path>
              </a:pathLst>
            </a:custGeom>
            <a:solidFill>
              <a:srgbClr val="F9D2D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1062037" y="4652962"/>
              <a:ext cx="152400" cy="1200150"/>
            </a:xfrm>
            <a:custGeom>
              <a:avLst/>
              <a:gdLst/>
              <a:ahLst/>
              <a:cxnLst/>
              <a:rect l="l" t="t" r="r" b="b"/>
              <a:pathLst>
                <a:path w="152400" h="1200150">
                  <a:moveTo>
                    <a:pt x="0" y="1147902"/>
                  </a:moveTo>
                  <a:lnTo>
                    <a:pt x="0" y="52247"/>
                  </a:lnTo>
                  <a:lnTo>
                    <a:pt x="0" y="48806"/>
                  </a:lnTo>
                  <a:lnTo>
                    <a:pt x="332" y="45415"/>
                  </a:lnTo>
                  <a:lnTo>
                    <a:pt x="1002" y="42049"/>
                  </a:lnTo>
                  <a:lnTo>
                    <a:pt x="1671" y="38684"/>
                  </a:lnTo>
                  <a:lnTo>
                    <a:pt x="2664" y="35420"/>
                  </a:lnTo>
                  <a:lnTo>
                    <a:pt x="3978" y="32258"/>
                  </a:lnTo>
                  <a:lnTo>
                    <a:pt x="5288" y="29083"/>
                  </a:lnTo>
                  <a:lnTo>
                    <a:pt x="6901" y="26073"/>
                  </a:lnTo>
                  <a:lnTo>
                    <a:pt x="32251" y="3975"/>
                  </a:lnTo>
                  <a:lnTo>
                    <a:pt x="35421" y="2667"/>
                  </a:lnTo>
                  <a:lnTo>
                    <a:pt x="38685" y="1676"/>
                  </a:lnTo>
                  <a:lnTo>
                    <a:pt x="42053" y="1003"/>
                  </a:lnTo>
                  <a:lnTo>
                    <a:pt x="45417" y="330"/>
                  </a:lnTo>
                  <a:lnTo>
                    <a:pt x="48816" y="0"/>
                  </a:lnTo>
                  <a:lnTo>
                    <a:pt x="52243" y="0"/>
                  </a:lnTo>
                  <a:lnTo>
                    <a:pt x="100156" y="0"/>
                  </a:lnTo>
                  <a:lnTo>
                    <a:pt x="103585" y="0"/>
                  </a:lnTo>
                  <a:lnTo>
                    <a:pt x="106982" y="330"/>
                  </a:lnTo>
                  <a:lnTo>
                    <a:pt x="110346" y="1003"/>
                  </a:lnTo>
                  <a:lnTo>
                    <a:pt x="113714" y="1676"/>
                  </a:lnTo>
                  <a:lnTo>
                    <a:pt x="116978" y="2667"/>
                  </a:lnTo>
                  <a:lnTo>
                    <a:pt x="120148" y="3975"/>
                  </a:lnTo>
                  <a:lnTo>
                    <a:pt x="123319" y="5283"/>
                  </a:lnTo>
                  <a:lnTo>
                    <a:pt x="137095" y="15303"/>
                  </a:lnTo>
                  <a:lnTo>
                    <a:pt x="139520" y="17729"/>
                  </a:lnTo>
                  <a:lnTo>
                    <a:pt x="148421" y="32258"/>
                  </a:lnTo>
                  <a:lnTo>
                    <a:pt x="149735" y="35420"/>
                  </a:lnTo>
                  <a:lnTo>
                    <a:pt x="150728" y="38684"/>
                  </a:lnTo>
                  <a:lnTo>
                    <a:pt x="151397" y="42049"/>
                  </a:lnTo>
                  <a:lnTo>
                    <a:pt x="152067" y="45415"/>
                  </a:lnTo>
                  <a:lnTo>
                    <a:pt x="152400" y="48806"/>
                  </a:lnTo>
                  <a:lnTo>
                    <a:pt x="152400" y="52247"/>
                  </a:lnTo>
                  <a:lnTo>
                    <a:pt x="152400" y="1147902"/>
                  </a:lnTo>
                  <a:lnTo>
                    <a:pt x="152400" y="1151335"/>
                  </a:lnTo>
                  <a:lnTo>
                    <a:pt x="152067" y="1154733"/>
                  </a:lnTo>
                  <a:lnTo>
                    <a:pt x="151397" y="1158096"/>
                  </a:lnTo>
                  <a:lnTo>
                    <a:pt x="150728" y="1161460"/>
                  </a:lnTo>
                  <a:lnTo>
                    <a:pt x="149735" y="1164724"/>
                  </a:lnTo>
                  <a:lnTo>
                    <a:pt x="148421" y="1167894"/>
                  </a:lnTo>
                  <a:lnTo>
                    <a:pt x="147111" y="1171064"/>
                  </a:lnTo>
                  <a:lnTo>
                    <a:pt x="145498" y="1174076"/>
                  </a:lnTo>
                  <a:lnTo>
                    <a:pt x="143593" y="1176929"/>
                  </a:lnTo>
                  <a:lnTo>
                    <a:pt x="141688" y="1179781"/>
                  </a:lnTo>
                  <a:lnTo>
                    <a:pt x="139520" y="1182420"/>
                  </a:lnTo>
                  <a:lnTo>
                    <a:pt x="137095" y="1184846"/>
                  </a:lnTo>
                  <a:lnTo>
                    <a:pt x="134669" y="1187272"/>
                  </a:lnTo>
                  <a:lnTo>
                    <a:pt x="100156" y="1200151"/>
                  </a:lnTo>
                  <a:lnTo>
                    <a:pt x="52243" y="1200151"/>
                  </a:lnTo>
                  <a:lnTo>
                    <a:pt x="15299" y="1184846"/>
                  </a:lnTo>
                  <a:lnTo>
                    <a:pt x="8806" y="1176929"/>
                  </a:lnTo>
                  <a:lnTo>
                    <a:pt x="6901" y="1174076"/>
                  </a:lnTo>
                  <a:lnTo>
                    <a:pt x="5288" y="1171064"/>
                  </a:lnTo>
                  <a:lnTo>
                    <a:pt x="3978" y="1167894"/>
                  </a:lnTo>
                  <a:lnTo>
                    <a:pt x="2664" y="1164724"/>
                  </a:lnTo>
                  <a:lnTo>
                    <a:pt x="1671" y="1161460"/>
                  </a:lnTo>
                  <a:lnTo>
                    <a:pt x="1002" y="1158096"/>
                  </a:lnTo>
                  <a:lnTo>
                    <a:pt x="332" y="1154733"/>
                  </a:lnTo>
                  <a:lnTo>
                    <a:pt x="0" y="1151335"/>
                  </a:lnTo>
                  <a:lnTo>
                    <a:pt x="0" y="1147902"/>
                  </a:lnTo>
                  <a:close/>
                </a:path>
              </a:pathLst>
            </a:custGeom>
            <a:ln w="9525">
              <a:solidFill>
                <a:srgbClr val="DFB7B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 descr=""/>
          <p:cNvSpPr txBox="1"/>
          <p:nvPr/>
        </p:nvSpPr>
        <p:spPr>
          <a:xfrm>
            <a:off x="1371548" y="4783137"/>
            <a:ext cx="4942840" cy="8820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100" b="1">
                <a:solidFill>
                  <a:srgbClr val="3B3434"/>
                </a:solidFill>
                <a:latin typeface="Verdana"/>
                <a:cs typeface="Verdana"/>
              </a:rPr>
              <a:t>T</a:t>
            </a:r>
            <a:r>
              <a:rPr dirty="0" sz="1650" spc="30" b="1">
                <a:solidFill>
                  <a:srgbClr val="3B3434"/>
                </a:solidFill>
                <a:latin typeface="Verdana"/>
                <a:cs typeface="Verdana"/>
              </a:rPr>
              <a:t>op</a:t>
            </a:r>
            <a:r>
              <a:rPr dirty="0" sz="100" spc="30">
                <a:solidFill>
                  <a:srgbClr val="3B3434"/>
                </a:solidFill>
                <a:latin typeface="Ink Free"/>
                <a:cs typeface="Ink Free"/>
              </a:rPr>
              <a:t>-</a:t>
            </a:r>
            <a:r>
              <a:rPr dirty="0" sz="1650" spc="-65" b="1">
                <a:solidFill>
                  <a:srgbClr val="3B3434"/>
                </a:solidFill>
                <a:latin typeface="Verdana"/>
                <a:cs typeface="Verdana"/>
              </a:rPr>
              <a:t>Produkte</a:t>
            </a:r>
            <a:r>
              <a:rPr dirty="0" sz="1650" spc="-150" b="1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1650" spc="-65" b="1">
                <a:solidFill>
                  <a:srgbClr val="3B3434"/>
                </a:solidFill>
                <a:latin typeface="Verdana"/>
                <a:cs typeface="Verdana"/>
              </a:rPr>
              <a:t>nach</a:t>
            </a:r>
            <a:r>
              <a:rPr dirty="0" sz="1650" spc="-150" b="1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1650" spc="-10" b="1">
                <a:solidFill>
                  <a:srgbClr val="3B3434"/>
                </a:solidFill>
                <a:latin typeface="Verdana"/>
                <a:cs typeface="Verdana"/>
              </a:rPr>
              <a:t>Verkuufen</a:t>
            </a:r>
            <a:endParaRPr sz="1650">
              <a:latin typeface="Verdana"/>
              <a:cs typeface="Verdana"/>
            </a:endParaRPr>
          </a:p>
          <a:p>
            <a:pPr marL="12700" marR="5080">
              <a:lnSpc>
                <a:spcPct val="140000"/>
              </a:lnSpc>
              <a:spcBef>
                <a:spcPts val="520"/>
              </a:spcBef>
            </a:pPr>
            <a:r>
              <a:rPr dirty="0" sz="1250">
                <a:solidFill>
                  <a:srgbClr val="3B3434"/>
                </a:solidFill>
                <a:latin typeface="Verdana"/>
                <a:cs typeface="Verdana"/>
              </a:rPr>
              <a:t>Clothing:</a:t>
            </a:r>
            <a:r>
              <a:rPr dirty="0" sz="1250" spc="4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1250" spc="-20">
                <a:solidFill>
                  <a:srgbClr val="3B3434"/>
                </a:solidFill>
                <a:latin typeface="Verdana"/>
                <a:cs typeface="Verdana"/>
              </a:rPr>
              <a:t>Blouse/Pants/Shirt;</a:t>
            </a:r>
            <a:r>
              <a:rPr dirty="0" sz="1250" spc="45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Verdana"/>
                <a:cs typeface="Verdana"/>
              </a:rPr>
              <a:t>Accessories: Jewelry/Sunglasses/Belt;</a:t>
            </a:r>
            <a:r>
              <a:rPr dirty="0" sz="1250" spc="-2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Verdana"/>
                <a:cs typeface="Verdana"/>
              </a:rPr>
              <a:t>Footwear:</a:t>
            </a:r>
            <a:r>
              <a:rPr dirty="0" sz="1250" spc="-2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Verdana"/>
                <a:cs typeface="Verdana"/>
              </a:rPr>
              <a:t>Sandals/Shoes/Sneakers</a:t>
            </a:r>
            <a:endParaRPr sz="12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286250" cy="1001877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4310380" marR="5080">
              <a:lnSpc>
                <a:spcPts val="4200"/>
              </a:lnSpc>
              <a:spcBef>
                <a:spcPts val="50"/>
              </a:spcBef>
            </a:pPr>
            <a:r>
              <a:rPr dirty="0" spc="-180"/>
              <a:t>Empfehlungen</a:t>
            </a:r>
            <a:r>
              <a:rPr dirty="0" spc="-350"/>
              <a:t> </a:t>
            </a:r>
            <a:r>
              <a:rPr dirty="0" spc="60"/>
              <a:t>T </a:t>
            </a:r>
            <a:r>
              <a:rPr dirty="0" spc="-35"/>
              <a:t>Dashboard</a:t>
            </a:r>
          </a:p>
        </p:txBody>
      </p:sp>
      <p:grpSp>
        <p:nvGrpSpPr>
          <p:cNvPr id="4" name="object 4" descr=""/>
          <p:cNvGrpSpPr/>
          <p:nvPr/>
        </p:nvGrpSpPr>
        <p:grpSpPr>
          <a:xfrm>
            <a:off x="4857749" y="1762125"/>
            <a:ext cx="6000750" cy="1457325"/>
            <a:chOff x="4857749" y="1762125"/>
            <a:chExt cx="6000750" cy="1457325"/>
          </a:xfrm>
        </p:grpSpPr>
        <p:sp>
          <p:nvSpPr>
            <p:cNvPr id="5" name="object 5" descr=""/>
            <p:cNvSpPr/>
            <p:nvPr/>
          </p:nvSpPr>
          <p:spPr>
            <a:xfrm>
              <a:off x="4857737" y="2010625"/>
              <a:ext cx="6000750" cy="1209040"/>
            </a:xfrm>
            <a:custGeom>
              <a:avLst/>
              <a:gdLst/>
              <a:ahLst/>
              <a:cxnLst/>
              <a:rect l="l" t="t" r="r" b="b"/>
              <a:pathLst>
                <a:path w="6000750" h="1209039">
                  <a:moveTo>
                    <a:pt x="6000750" y="75361"/>
                  </a:moveTo>
                  <a:lnTo>
                    <a:pt x="5987923" y="33020"/>
                  </a:lnTo>
                  <a:lnTo>
                    <a:pt x="5953709" y="4965"/>
                  </a:lnTo>
                  <a:lnTo>
                    <a:pt x="5935319" y="0"/>
                  </a:lnTo>
                  <a:lnTo>
                    <a:pt x="5939421" y="1092"/>
                  </a:lnTo>
                  <a:lnTo>
                    <a:pt x="5953417" y="8826"/>
                  </a:lnTo>
                  <a:lnTo>
                    <a:pt x="5977344" y="46202"/>
                  </a:lnTo>
                  <a:lnTo>
                    <a:pt x="5981700" y="75361"/>
                  </a:lnTo>
                  <a:lnTo>
                    <a:pt x="5981700" y="1151826"/>
                  </a:lnTo>
                  <a:lnTo>
                    <a:pt x="5970067" y="1179106"/>
                  </a:lnTo>
                  <a:lnTo>
                    <a:pt x="5964745" y="1183525"/>
                  </a:lnTo>
                  <a:lnTo>
                    <a:pt x="5958319" y="1187005"/>
                  </a:lnTo>
                  <a:lnTo>
                    <a:pt x="5951321" y="1189088"/>
                  </a:lnTo>
                  <a:lnTo>
                    <a:pt x="5943739" y="1189786"/>
                  </a:lnTo>
                  <a:lnTo>
                    <a:pt x="57010" y="1189786"/>
                  </a:lnTo>
                  <a:lnTo>
                    <a:pt x="30175" y="1178674"/>
                  </a:lnTo>
                  <a:lnTo>
                    <a:pt x="25311" y="1172819"/>
                  </a:lnTo>
                  <a:lnTo>
                    <a:pt x="21831" y="1166393"/>
                  </a:lnTo>
                  <a:lnTo>
                    <a:pt x="19748" y="1159395"/>
                  </a:lnTo>
                  <a:lnTo>
                    <a:pt x="19050" y="1151826"/>
                  </a:lnTo>
                  <a:lnTo>
                    <a:pt x="19050" y="75361"/>
                  </a:lnTo>
                  <a:lnTo>
                    <a:pt x="28676" y="33020"/>
                  </a:lnTo>
                  <a:lnTo>
                    <a:pt x="61328" y="1092"/>
                  </a:lnTo>
                  <a:lnTo>
                    <a:pt x="65443" y="0"/>
                  </a:lnTo>
                  <a:lnTo>
                    <a:pt x="61341" y="609"/>
                  </a:lnTo>
                  <a:lnTo>
                    <a:pt x="22313" y="21475"/>
                  </a:lnTo>
                  <a:lnTo>
                    <a:pt x="1460" y="60490"/>
                  </a:lnTo>
                  <a:lnTo>
                    <a:pt x="0" y="75361"/>
                  </a:lnTo>
                  <a:lnTo>
                    <a:pt x="0" y="1159395"/>
                  </a:lnTo>
                  <a:lnTo>
                    <a:pt x="1447" y="1166660"/>
                  </a:lnTo>
                  <a:lnTo>
                    <a:pt x="7239" y="1180630"/>
                  </a:lnTo>
                  <a:lnTo>
                    <a:pt x="11353" y="1186789"/>
                  </a:lnTo>
                  <a:lnTo>
                    <a:pt x="16929" y="1192364"/>
                  </a:lnTo>
                  <a:lnTo>
                    <a:pt x="22047" y="1197483"/>
                  </a:lnTo>
                  <a:lnTo>
                    <a:pt x="28206" y="1201597"/>
                  </a:lnTo>
                  <a:lnTo>
                    <a:pt x="42176" y="1207389"/>
                  </a:lnTo>
                  <a:lnTo>
                    <a:pt x="49441" y="1208836"/>
                  </a:lnTo>
                  <a:lnTo>
                    <a:pt x="5951296" y="1208836"/>
                  </a:lnTo>
                  <a:lnTo>
                    <a:pt x="5958573" y="1207389"/>
                  </a:lnTo>
                  <a:lnTo>
                    <a:pt x="5972543" y="1201597"/>
                  </a:lnTo>
                  <a:lnTo>
                    <a:pt x="5978703" y="1197483"/>
                  </a:lnTo>
                  <a:lnTo>
                    <a:pt x="5983579" y="1192606"/>
                  </a:lnTo>
                  <a:lnTo>
                    <a:pt x="5984049" y="1192136"/>
                  </a:lnTo>
                  <a:lnTo>
                    <a:pt x="5989396" y="1186789"/>
                  </a:lnTo>
                  <a:lnTo>
                    <a:pt x="5993511" y="1180630"/>
                  </a:lnTo>
                  <a:lnTo>
                    <a:pt x="5999302" y="1166660"/>
                  </a:lnTo>
                  <a:lnTo>
                    <a:pt x="6000750" y="1159395"/>
                  </a:lnTo>
                  <a:lnTo>
                    <a:pt x="6000750" y="75361"/>
                  </a:lnTo>
                  <a:close/>
                </a:path>
              </a:pathLst>
            </a:custGeom>
            <a:solidFill>
              <a:srgbClr val="DFB7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4857750" y="1762124"/>
              <a:ext cx="6000750" cy="485775"/>
            </a:xfrm>
            <a:custGeom>
              <a:avLst/>
              <a:gdLst/>
              <a:ahLst/>
              <a:cxnLst/>
              <a:rect l="l" t="t" r="r" b="b"/>
              <a:pathLst>
                <a:path w="6000750" h="485775">
                  <a:moveTo>
                    <a:pt x="6000750" y="281863"/>
                  </a:moveTo>
                  <a:lnTo>
                    <a:pt x="5981408" y="242646"/>
                  </a:lnTo>
                  <a:lnTo>
                    <a:pt x="5947486" y="228600"/>
                  </a:lnTo>
                  <a:lnTo>
                    <a:pt x="3241535" y="228600"/>
                  </a:lnTo>
                  <a:lnTo>
                    <a:pt x="3241459" y="226999"/>
                  </a:lnTo>
                  <a:lnTo>
                    <a:pt x="3235629" y="187706"/>
                  </a:lnTo>
                  <a:lnTo>
                    <a:pt x="3220313" y="142595"/>
                  </a:lnTo>
                  <a:lnTo>
                    <a:pt x="3196501" y="101333"/>
                  </a:lnTo>
                  <a:lnTo>
                    <a:pt x="3165081" y="65519"/>
                  </a:lnTo>
                  <a:lnTo>
                    <a:pt x="3127286" y="36512"/>
                  </a:lnTo>
                  <a:lnTo>
                    <a:pt x="3084563" y="15443"/>
                  </a:lnTo>
                  <a:lnTo>
                    <a:pt x="3038538" y="3111"/>
                  </a:lnTo>
                  <a:lnTo>
                    <a:pt x="3006915" y="0"/>
                  </a:lnTo>
                  <a:lnTo>
                    <a:pt x="2991002" y="0"/>
                  </a:lnTo>
                  <a:lnTo>
                    <a:pt x="2943771" y="6223"/>
                  </a:lnTo>
                  <a:lnTo>
                    <a:pt x="2898660" y="21539"/>
                  </a:lnTo>
                  <a:lnTo>
                    <a:pt x="2857411" y="45351"/>
                  </a:lnTo>
                  <a:lnTo>
                    <a:pt x="2821584" y="76758"/>
                  </a:lnTo>
                  <a:lnTo>
                    <a:pt x="2792590" y="114566"/>
                  </a:lnTo>
                  <a:lnTo>
                    <a:pt x="2771521" y="157289"/>
                  </a:lnTo>
                  <a:lnTo>
                    <a:pt x="2759189" y="203301"/>
                  </a:lnTo>
                  <a:lnTo>
                    <a:pt x="2756382" y="228600"/>
                  </a:lnTo>
                  <a:lnTo>
                    <a:pt x="53263" y="228600"/>
                  </a:lnTo>
                  <a:lnTo>
                    <a:pt x="14046" y="247942"/>
                  </a:lnTo>
                  <a:lnTo>
                    <a:pt x="0" y="281863"/>
                  </a:lnTo>
                  <a:lnTo>
                    <a:pt x="0" y="304800"/>
                  </a:lnTo>
                  <a:lnTo>
                    <a:pt x="2763964" y="304800"/>
                  </a:lnTo>
                  <a:lnTo>
                    <a:pt x="2764218" y="305777"/>
                  </a:lnTo>
                  <a:lnTo>
                    <a:pt x="2777604" y="343192"/>
                  </a:lnTo>
                  <a:lnTo>
                    <a:pt x="2801429" y="384441"/>
                  </a:lnTo>
                  <a:lnTo>
                    <a:pt x="2832836" y="420255"/>
                  </a:lnTo>
                  <a:lnTo>
                    <a:pt x="2870631" y="449262"/>
                  </a:lnTo>
                  <a:lnTo>
                    <a:pt x="2913354" y="470331"/>
                  </a:lnTo>
                  <a:lnTo>
                    <a:pt x="2959379" y="482663"/>
                  </a:lnTo>
                  <a:lnTo>
                    <a:pt x="2991002" y="485775"/>
                  </a:lnTo>
                  <a:lnTo>
                    <a:pt x="3006915" y="485775"/>
                  </a:lnTo>
                  <a:lnTo>
                    <a:pt x="3054146" y="479552"/>
                  </a:lnTo>
                  <a:lnTo>
                    <a:pt x="3099257" y="464248"/>
                  </a:lnTo>
                  <a:lnTo>
                    <a:pt x="3140519" y="440423"/>
                  </a:lnTo>
                  <a:lnTo>
                    <a:pt x="3176333" y="409003"/>
                  </a:lnTo>
                  <a:lnTo>
                    <a:pt x="3205340" y="371221"/>
                  </a:lnTo>
                  <a:lnTo>
                    <a:pt x="3226409" y="328485"/>
                  </a:lnTo>
                  <a:lnTo>
                    <a:pt x="3233940" y="304800"/>
                  </a:lnTo>
                  <a:lnTo>
                    <a:pt x="6000750" y="304800"/>
                  </a:lnTo>
                  <a:lnTo>
                    <a:pt x="6000750" y="281863"/>
                  </a:lnTo>
                  <a:close/>
                </a:path>
              </a:pathLst>
            </a:custGeom>
            <a:solidFill>
              <a:srgbClr val="DA1B2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7803832" y="1858772"/>
            <a:ext cx="108585" cy="26035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500" spc="-465" b="1">
                <a:solidFill>
                  <a:srgbClr val="FFFFFF"/>
                </a:solidFill>
                <a:latin typeface="Verdana"/>
                <a:cs typeface="Verdana"/>
              </a:rPr>
              <a:t>1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5025428" y="2392362"/>
            <a:ext cx="5432425" cy="6153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315" b="1">
                <a:solidFill>
                  <a:srgbClr val="3B3434"/>
                </a:solidFill>
                <a:latin typeface="Verdana"/>
                <a:cs typeface="Verdana"/>
              </a:rPr>
              <a:t>1.</a:t>
            </a:r>
            <a:r>
              <a:rPr dirty="0" sz="1650" spc="-160" b="1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1650" spc="-55" b="1">
                <a:solidFill>
                  <a:srgbClr val="3B3434"/>
                </a:solidFill>
                <a:latin typeface="Verdana"/>
                <a:cs typeface="Verdana"/>
              </a:rPr>
              <a:t>Abonnements</a:t>
            </a:r>
            <a:r>
              <a:rPr dirty="0" sz="1650" spc="-160" b="1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1650" spc="-10" b="1">
                <a:solidFill>
                  <a:srgbClr val="3B3434"/>
                </a:solidFill>
                <a:latin typeface="Verdana"/>
                <a:cs typeface="Verdana"/>
              </a:rPr>
              <a:t>fördern</a:t>
            </a:r>
            <a:endParaRPr sz="16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120"/>
              </a:spcBef>
            </a:pPr>
            <a:r>
              <a:rPr dirty="0" sz="1250">
                <a:solidFill>
                  <a:srgbClr val="3B3434"/>
                </a:solidFill>
                <a:latin typeface="Verdana"/>
                <a:cs typeface="Verdana"/>
              </a:rPr>
              <a:t>Bewerbung</a:t>
            </a:r>
            <a:r>
              <a:rPr dirty="0" sz="1250" spc="-6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Verdana"/>
                <a:cs typeface="Verdana"/>
              </a:rPr>
              <a:t>exklusiver</a:t>
            </a:r>
            <a:r>
              <a:rPr dirty="0" sz="1250" spc="-6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1250">
                <a:solidFill>
                  <a:srgbClr val="3B3434"/>
                </a:solidFill>
                <a:latin typeface="Verdana"/>
                <a:cs typeface="Verdana"/>
              </a:rPr>
              <a:t>Vorteile</a:t>
            </a:r>
            <a:r>
              <a:rPr dirty="0" sz="1250" spc="-55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1250">
                <a:solidFill>
                  <a:srgbClr val="3B3434"/>
                </a:solidFill>
                <a:latin typeface="Verdana"/>
                <a:cs typeface="Verdana"/>
              </a:rPr>
              <a:t>für</a:t>
            </a:r>
            <a:r>
              <a:rPr dirty="0" sz="1250" spc="-6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1250" spc="45">
                <a:solidFill>
                  <a:srgbClr val="3B3434"/>
                </a:solidFill>
                <a:latin typeface="Verdana"/>
                <a:cs typeface="Verdana"/>
              </a:rPr>
              <a:t>Abonnenten</a:t>
            </a:r>
            <a:r>
              <a:rPr dirty="0" sz="1250" spc="-55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1250" spc="-35">
                <a:solidFill>
                  <a:srgbClr val="3B3434"/>
                </a:solidFill>
                <a:latin typeface="Verdana"/>
                <a:cs typeface="Verdana"/>
              </a:rPr>
              <a:t>zur</a:t>
            </a:r>
            <a:r>
              <a:rPr dirty="0" sz="1250" spc="-6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Verdana"/>
                <a:cs typeface="Verdana"/>
              </a:rPr>
              <a:t>Umsatzbindung</a:t>
            </a:r>
            <a:endParaRPr sz="1250">
              <a:latin typeface="Verdana"/>
              <a:cs typeface="Verdana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4857749" y="3381375"/>
            <a:ext cx="6000750" cy="1724025"/>
            <a:chOff x="4857749" y="3381375"/>
            <a:chExt cx="6000750" cy="1724025"/>
          </a:xfrm>
        </p:grpSpPr>
        <p:sp>
          <p:nvSpPr>
            <p:cNvPr id="10" name="object 10" descr=""/>
            <p:cNvSpPr/>
            <p:nvPr/>
          </p:nvSpPr>
          <p:spPr>
            <a:xfrm>
              <a:off x="4857737" y="3629875"/>
              <a:ext cx="6000750" cy="1475740"/>
            </a:xfrm>
            <a:custGeom>
              <a:avLst/>
              <a:gdLst/>
              <a:ahLst/>
              <a:cxnLst/>
              <a:rect l="l" t="t" r="r" b="b"/>
              <a:pathLst>
                <a:path w="6000750" h="1475739">
                  <a:moveTo>
                    <a:pt x="6000750" y="75361"/>
                  </a:moveTo>
                  <a:lnTo>
                    <a:pt x="5987923" y="33020"/>
                  </a:lnTo>
                  <a:lnTo>
                    <a:pt x="5953709" y="4965"/>
                  </a:lnTo>
                  <a:lnTo>
                    <a:pt x="5935319" y="0"/>
                  </a:lnTo>
                  <a:lnTo>
                    <a:pt x="5939421" y="1092"/>
                  </a:lnTo>
                  <a:lnTo>
                    <a:pt x="5953417" y="8826"/>
                  </a:lnTo>
                  <a:lnTo>
                    <a:pt x="5977344" y="46202"/>
                  </a:lnTo>
                  <a:lnTo>
                    <a:pt x="5981700" y="75361"/>
                  </a:lnTo>
                  <a:lnTo>
                    <a:pt x="5981700" y="1418526"/>
                  </a:lnTo>
                  <a:lnTo>
                    <a:pt x="5970067" y="1445806"/>
                  </a:lnTo>
                  <a:lnTo>
                    <a:pt x="5964745" y="1450225"/>
                  </a:lnTo>
                  <a:lnTo>
                    <a:pt x="5958319" y="1453705"/>
                  </a:lnTo>
                  <a:lnTo>
                    <a:pt x="5951321" y="1455788"/>
                  </a:lnTo>
                  <a:lnTo>
                    <a:pt x="5943739" y="1456486"/>
                  </a:lnTo>
                  <a:lnTo>
                    <a:pt x="57010" y="1456486"/>
                  </a:lnTo>
                  <a:lnTo>
                    <a:pt x="30175" y="1445374"/>
                  </a:lnTo>
                  <a:lnTo>
                    <a:pt x="25311" y="1439519"/>
                  </a:lnTo>
                  <a:lnTo>
                    <a:pt x="21831" y="1433093"/>
                  </a:lnTo>
                  <a:lnTo>
                    <a:pt x="19748" y="1426095"/>
                  </a:lnTo>
                  <a:lnTo>
                    <a:pt x="19050" y="1418526"/>
                  </a:lnTo>
                  <a:lnTo>
                    <a:pt x="19050" y="75361"/>
                  </a:lnTo>
                  <a:lnTo>
                    <a:pt x="28676" y="33020"/>
                  </a:lnTo>
                  <a:lnTo>
                    <a:pt x="61328" y="1092"/>
                  </a:lnTo>
                  <a:lnTo>
                    <a:pt x="65443" y="0"/>
                  </a:lnTo>
                  <a:lnTo>
                    <a:pt x="61341" y="609"/>
                  </a:lnTo>
                  <a:lnTo>
                    <a:pt x="22313" y="21475"/>
                  </a:lnTo>
                  <a:lnTo>
                    <a:pt x="1460" y="60490"/>
                  </a:lnTo>
                  <a:lnTo>
                    <a:pt x="0" y="75361"/>
                  </a:lnTo>
                  <a:lnTo>
                    <a:pt x="0" y="1426095"/>
                  </a:lnTo>
                  <a:lnTo>
                    <a:pt x="1447" y="1433360"/>
                  </a:lnTo>
                  <a:lnTo>
                    <a:pt x="7239" y="1447330"/>
                  </a:lnTo>
                  <a:lnTo>
                    <a:pt x="11353" y="1453489"/>
                  </a:lnTo>
                  <a:lnTo>
                    <a:pt x="16929" y="1459064"/>
                  </a:lnTo>
                  <a:lnTo>
                    <a:pt x="22047" y="1464183"/>
                  </a:lnTo>
                  <a:lnTo>
                    <a:pt x="28206" y="1468297"/>
                  </a:lnTo>
                  <a:lnTo>
                    <a:pt x="42176" y="1474089"/>
                  </a:lnTo>
                  <a:lnTo>
                    <a:pt x="49441" y="1475536"/>
                  </a:lnTo>
                  <a:lnTo>
                    <a:pt x="5951296" y="1475536"/>
                  </a:lnTo>
                  <a:lnTo>
                    <a:pt x="5958573" y="1474089"/>
                  </a:lnTo>
                  <a:lnTo>
                    <a:pt x="5972543" y="1468297"/>
                  </a:lnTo>
                  <a:lnTo>
                    <a:pt x="5978703" y="1464183"/>
                  </a:lnTo>
                  <a:lnTo>
                    <a:pt x="5983579" y="1459306"/>
                  </a:lnTo>
                  <a:lnTo>
                    <a:pt x="5984049" y="1458836"/>
                  </a:lnTo>
                  <a:lnTo>
                    <a:pt x="5989396" y="1453489"/>
                  </a:lnTo>
                  <a:lnTo>
                    <a:pt x="5993511" y="1447330"/>
                  </a:lnTo>
                  <a:lnTo>
                    <a:pt x="5999302" y="1433360"/>
                  </a:lnTo>
                  <a:lnTo>
                    <a:pt x="6000750" y="1426095"/>
                  </a:lnTo>
                  <a:lnTo>
                    <a:pt x="6000750" y="75361"/>
                  </a:lnTo>
                  <a:close/>
                </a:path>
              </a:pathLst>
            </a:custGeom>
            <a:solidFill>
              <a:srgbClr val="DFB7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4857750" y="3381374"/>
              <a:ext cx="6000750" cy="495300"/>
            </a:xfrm>
            <a:custGeom>
              <a:avLst/>
              <a:gdLst/>
              <a:ahLst/>
              <a:cxnLst/>
              <a:rect l="l" t="t" r="r" b="b"/>
              <a:pathLst>
                <a:path w="6000750" h="495300">
                  <a:moveTo>
                    <a:pt x="6000750" y="281876"/>
                  </a:moveTo>
                  <a:lnTo>
                    <a:pt x="5981408" y="242646"/>
                  </a:lnTo>
                  <a:lnTo>
                    <a:pt x="5947486" y="228600"/>
                  </a:lnTo>
                  <a:lnTo>
                    <a:pt x="3241535" y="228600"/>
                  </a:lnTo>
                  <a:lnTo>
                    <a:pt x="3241459" y="226999"/>
                  </a:lnTo>
                  <a:lnTo>
                    <a:pt x="3235629" y="187706"/>
                  </a:lnTo>
                  <a:lnTo>
                    <a:pt x="3220313" y="142595"/>
                  </a:lnTo>
                  <a:lnTo>
                    <a:pt x="3196501" y="101333"/>
                  </a:lnTo>
                  <a:lnTo>
                    <a:pt x="3165081" y="65519"/>
                  </a:lnTo>
                  <a:lnTo>
                    <a:pt x="3127286" y="36512"/>
                  </a:lnTo>
                  <a:lnTo>
                    <a:pt x="3084563" y="15443"/>
                  </a:lnTo>
                  <a:lnTo>
                    <a:pt x="3038538" y="3111"/>
                  </a:lnTo>
                  <a:lnTo>
                    <a:pt x="3006915" y="0"/>
                  </a:lnTo>
                  <a:lnTo>
                    <a:pt x="2991002" y="0"/>
                  </a:lnTo>
                  <a:lnTo>
                    <a:pt x="2943771" y="6235"/>
                  </a:lnTo>
                  <a:lnTo>
                    <a:pt x="2898660" y="21539"/>
                  </a:lnTo>
                  <a:lnTo>
                    <a:pt x="2857411" y="45351"/>
                  </a:lnTo>
                  <a:lnTo>
                    <a:pt x="2821584" y="76771"/>
                  </a:lnTo>
                  <a:lnTo>
                    <a:pt x="2792590" y="114566"/>
                  </a:lnTo>
                  <a:lnTo>
                    <a:pt x="2771521" y="157289"/>
                  </a:lnTo>
                  <a:lnTo>
                    <a:pt x="2759189" y="203301"/>
                  </a:lnTo>
                  <a:lnTo>
                    <a:pt x="2756382" y="228600"/>
                  </a:lnTo>
                  <a:lnTo>
                    <a:pt x="53263" y="228600"/>
                  </a:lnTo>
                  <a:lnTo>
                    <a:pt x="14046" y="247942"/>
                  </a:lnTo>
                  <a:lnTo>
                    <a:pt x="0" y="281876"/>
                  </a:lnTo>
                  <a:lnTo>
                    <a:pt x="0" y="304800"/>
                  </a:lnTo>
                  <a:lnTo>
                    <a:pt x="2761742" y="304800"/>
                  </a:lnTo>
                  <a:lnTo>
                    <a:pt x="2762300" y="307594"/>
                  </a:lnTo>
                  <a:lnTo>
                    <a:pt x="2777604" y="352717"/>
                  </a:lnTo>
                  <a:lnTo>
                    <a:pt x="2801429" y="393966"/>
                  </a:lnTo>
                  <a:lnTo>
                    <a:pt x="2832836" y="429780"/>
                  </a:lnTo>
                  <a:lnTo>
                    <a:pt x="2870631" y="458787"/>
                  </a:lnTo>
                  <a:lnTo>
                    <a:pt x="2913354" y="479856"/>
                  </a:lnTo>
                  <a:lnTo>
                    <a:pt x="2959379" y="492188"/>
                  </a:lnTo>
                  <a:lnTo>
                    <a:pt x="2991002" y="495300"/>
                  </a:lnTo>
                  <a:lnTo>
                    <a:pt x="3006915" y="495300"/>
                  </a:lnTo>
                  <a:lnTo>
                    <a:pt x="3054146" y="489077"/>
                  </a:lnTo>
                  <a:lnTo>
                    <a:pt x="3099257" y="473773"/>
                  </a:lnTo>
                  <a:lnTo>
                    <a:pt x="3140519" y="449948"/>
                  </a:lnTo>
                  <a:lnTo>
                    <a:pt x="3176333" y="418528"/>
                  </a:lnTo>
                  <a:lnTo>
                    <a:pt x="3205340" y="380746"/>
                  </a:lnTo>
                  <a:lnTo>
                    <a:pt x="3226409" y="338023"/>
                  </a:lnTo>
                  <a:lnTo>
                    <a:pt x="3236176" y="304800"/>
                  </a:lnTo>
                  <a:lnTo>
                    <a:pt x="6000750" y="304800"/>
                  </a:lnTo>
                  <a:lnTo>
                    <a:pt x="6000750" y="281876"/>
                  </a:lnTo>
                  <a:close/>
                </a:path>
              </a:pathLst>
            </a:custGeom>
            <a:solidFill>
              <a:srgbClr val="DA1B2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7784033" y="3487546"/>
            <a:ext cx="147955" cy="26035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500" spc="-50" b="1">
                <a:solidFill>
                  <a:srgbClr val="FFFFFF"/>
                </a:solidFill>
                <a:latin typeface="Verdana"/>
                <a:cs typeface="Verdana"/>
              </a:rPr>
              <a:t>2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5025426" y="4011612"/>
            <a:ext cx="4966335" cy="8820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140" b="1">
                <a:solidFill>
                  <a:srgbClr val="3B3434"/>
                </a:solidFill>
                <a:latin typeface="Verdana"/>
                <a:cs typeface="Verdana"/>
              </a:rPr>
              <a:t>2.</a:t>
            </a:r>
            <a:r>
              <a:rPr dirty="0" sz="1650" spc="-100" b="1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1650" spc="-70" b="1">
                <a:solidFill>
                  <a:srgbClr val="3B3434"/>
                </a:solidFill>
                <a:latin typeface="Verdana"/>
                <a:cs typeface="Verdana"/>
              </a:rPr>
              <a:t>K</a:t>
            </a:r>
            <a:r>
              <a:rPr dirty="0" sz="1650" spc="-35" b="1">
                <a:solidFill>
                  <a:srgbClr val="3B3434"/>
                </a:solidFill>
                <a:latin typeface="Verdana"/>
                <a:cs typeface="Verdana"/>
              </a:rPr>
              <a:t>undenbindungs</a:t>
            </a:r>
            <a:r>
              <a:rPr dirty="0" sz="100" spc="-35">
                <a:solidFill>
                  <a:srgbClr val="3B3434"/>
                </a:solidFill>
                <a:latin typeface="Ink Free"/>
                <a:cs typeface="Ink Free"/>
              </a:rPr>
              <a:t>-</a:t>
            </a:r>
            <a:r>
              <a:rPr dirty="0" sz="1650" spc="-10" b="1">
                <a:solidFill>
                  <a:srgbClr val="3B3434"/>
                </a:solidFill>
                <a:latin typeface="Verdana"/>
                <a:cs typeface="Verdana"/>
              </a:rPr>
              <a:t>programme</a:t>
            </a:r>
            <a:endParaRPr sz="1650">
              <a:latin typeface="Verdana"/>
              <a:cs typeface="Verdana"/>
            </a:endParaRPr>
          </a:p>
          <a:p>
            <a:pPr marL="12700" marR="5080">
              <a:lnSpc>
                <a:spcPct val="140000"/>
              </a:lnSpc>
              <a:spcBef>
                <a:spcPts val="520"/>
              </a:spcBef>
            </a:pPr>
            <a:r>
              <a:rPr dirty="0" sz="1250">
                <a:solidFill>
                  <a:srgbClr val="3B3434"/>
                </a:solidFill>
                <a:latin typeface="Verdana"/>
                <a:cs typeface="Verdana"/>
              </a:rPr>
              <a:t>Belohnungen</a:t>
            </a:r>
            <a:r>
              <a:rPr dirty="0" sz="1250" spc="-3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1250">
                <a:solidFill>
                  <a:srgbClr val="3B3434"/>
                </a:solidFill>
                <a:latin typeface="Verdana"/>
                <a:cs typeface="Verdana"/>
              </a:rPr>
              <a:t>für</a:t>
            </a:r>
            <a:r>
              <a:rPr dirty="0" sz="1250" spc="-3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1250">
                <a:solidFill>
                  <a:srgbClr val="3B3434"/>
                </a:solidFill>
                <a:latin typeface="Verdana"/>
                <a:cs typeface="Verdana"/>
              </a:rPr>
              <a:t>Wiederholungskäufer,</a:t>
            </a:r>
            <a:r>
              <a:rPr dirty="0" sz="1250" spc="-25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1250" spc="-45">
                <a:solidFill>
                  <a:srgbClr val="3B3434"/>
                </a:solidFill>
                <a:latin typeface="Verdana"/>
                <a:cs typeface="Verdana"/>
              </a:rPr>
              <a:t>Ziel:</a:t>
            </a:r>
            <a:r>
              <a:rPr dirty="0" sz="1250" spc="-3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1250">
                <a:solidFill>
                  <a:srgbClr val="3B3434"/>
                </a:solidFill>
                <a:latin typeface="Verdana"/>
                <a:cs typeface="Verdana"/>
              </a:rPr>
              <a:t>loyales</a:t>
            </a:r>
            <a:r>
              <a:rPr dirty="0" sz="1250" spc="-3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Verdana"/>
                <a:cs typeface="Verdana"/>
              </a:rPr>
              <a:t>Segment vergrößern</a:t>
            </a:r>
            <a:endParaRPr sz="1250">
              <a:latin typeface="Verdana"/>
              <a:cs typeface="Verdana"/>
            </a:endParaRPr>
          </a:p>
        </p:txBody>
      </p:sp>
      <p:grpSp>
        <p:nvGrpSpPr>
          <p:cNvPr id="14" name="object 14" descr=""/>
          <p:cNvGrpSpPr/>
          <p:nvPr/>
        </p:nvGrpSpPr>
        <p:grpSpPr>
          <a:xfrm>
            <a:off x="4857749" y="5267325"/>
            <a:ext cx="6000750" cy="1457325"/>
            <a:chOff x="4857749" y="5267325"/>
            <a:chExt cx="6000750" cy="1457325"/>
          </a:xfrm>
        </p:grpSpPr>
        <p:sp>
          <p:nvSpPr>
            <p:cNvPr id="15" name="object 15" descr=""/>
            <p:cNvSpPr/>
            <p:nvPr/>
          </p:nvSpPr>
          <p:spPr>
            <a:xfrm>
              <a:off x="4857737" y="5515825"/>
              <a:ext cx="6000750" cy="1209040"/>
            </a:xfrm>
            <a:custGeom>
              <a:avLst/>
              <a:gdLst/>
              <a:ahLst/>
              <a:cxnLst/>
              <a:rect l="l" t="t" r="r" b="b"/>
              <a:pathLst>
                <a:path w="6000750" h="1209040">
                  <a:moveTo>
                    <a:pt x="6000750" y="75361"/>
                  </a:moveTo>
                  <a:lnTo>
                    <a:pt x="5987923" y="33020"/>
                  </a:lnTo>
                  <a:lnTo>
                    <a:pt x="5953709" y="4965"/>
                  </a:lnTo>
                  <a:lnTo>
                    <a:pt x="5935319" y="0"/>
                  </a:lnTo>
                  <a:lnTo>
                    <a:pt x="5939421" y="1092"/>
                  </a:lnTo>
                  <a:lnTo>
                    <a:pt x="5953417" y="8826"/>
                  </a:lnTo>
                  <a:lnTo>
                    <a:pt x="5977344" y="46202"/>
                  </a:lnTo>
                  <a:lnTo>
                    <a:pt x="5981700" y="75361"/>
                  </a:lnTo>
                  <a:lnTo>
                    <a:pt x="5981700" y="1151826"/>
                  </a:lnTo>
                  <a:lnTo>
                    <a:pt x="5970067" y="1179106"/>
                  </a:lnTo>
                  <a:lnTo>
                    <a:pt x="5964745" y="1183525"/>
                  </a:lnTo>
                  <a:lnTo>
                    <a:pt x="5958319" y="1187005"/>
                  </a:lnTo>
                  <a:lnTo>
                    <a:pt x="5951321" y="1189088"/>
                  </a:lnTo>
                  <a:lnTo>
                    <a:pt x="5943739" y="1189786"/>
                  </a:lnTo>
                  <a:lnTo>
                    <a:pt x="57010" y="1189786"/>
                  </a:lnTo>
                  <a:lnTo>
                    <a:pt x="30175" y="1178674"/>
                  </a:lnTo>
                  <a:lnTo>
                    <a:pt x="25311" y="1172819"/>
                  </a:lnTo>
                  <a:lnTo>
                    <a:pt x="21831" y="1166393"/>
                  </a:lnTo>
                  <a:lnTo>
                    <a:pt x="19748" y="1159395"/>
                  </a:lnTo>
                  <a:lnTo>
                    <a:pt x="19050" y="1151826"/>
                  </a:lnTo>
                  <a:lnTo>
                    <a:pt x="19050" y="75361"/>
                  </a:lnTo>
                  <a:lnTo>
                    <a:pt x="28676" y="33020"/>
                  </a:lnTo>
                  <a:lnTo>
                    <a:pt x="61328" y="1092"/>
                  </a:lnTo>
                  <a:lnTo>
                    <a:pt x="65443" y="0"/>
                  </a:lnTo>
                  <a:lnTo>
                    <a:pt x="61341" y="609"/>
                  </a:lnTo>
                  <a:lnTo>
                    <a:pt x="22313" y="21475"/>
                  </a:lnTo>
                  <a:lnTo>
                    <a:pt x="1460" y="60490"/>
                  </a:lnTo>
                  <a:lnTo>
                    <a:pt x="0" y="75361"/>
                  </a:lnTo>
                  <a:lnTo>
                    <a:pt x="0" y="1159395"/>
                  </a:lnTo>
                  <a:lnTo>
                    <a:pt x="1447" y="1166660"/>
                  </a:lnTo>
                  <a:lnTo>
                    <a:pt x="7239" y="1180630"/>
                  </a:lnTo>
                  <a:lnTo>
                    <a:pt x="11353" y="1186789"/>
                  </a:lnTo>
                  <a:lnTo>
                    <a:pt x="16929" y="1192364"/>
                  </a:lnTo>
                  <a:lnTo>
                    <a:pt x="22047" y="1197483"/>
                  </a:lnTo>
                  <a:lnTo>
                    <a:pt x="28206" y="1201597"/>
                  </a:lnTo>
                  <a:lnTo>
                    <a:pt x="42176" y="1207389"/>
                  </a:lnTo>
                  <a:lnTo>
                    <a:pt x="49441" y="1208836"/>
                  </a:lnTo>
                  <a:lnTo>
                    <a:pt x="5951296" y="1208836"/>
                  </a:lnTo>
                  <a:lnTo>
                    <a:pt x="5958573" y="1207389"/>
                  </a:lnTo>
                  <a:lnTo>
                    <a:pt x="5972543" y="1201597"/>
                  </a:lnTo>
                  <a:lnTo>
                    <a:pt x="5978703" y="1197483"/>
                  </a:lnTo>
                  <a:lnTo>
                    <a:pt x="5983579" y="1192606"/>
                  </a:lnTo>
                  <a:lnTo>
                    <a:pt x="5984049" y="1192136"/>
                  </a:lnTo>
                  <a:lnTo>
                    <a:pt x="5989396" y="1186789"/>
                  </a:lnTo>
                  <a:lnTo>
                    <a:pt x="5993511" y="1180630"/>
                  </a:lnTo>
                  <a:lnTo>
                    <a:pt x="5999302" y="1166660"/>
                  </a:lnTo>
                  <a:lnTo>
                    <a:pt x="6000750" y="1159395"/>
                  </a:lnTo>
                  <a:lnTo>
                    <a:pt x="6000750" y="75361"/>
                  </a:lnTo>
                  <a:close/>
                </a:path>
              </a:pathLst>
            </a:custGeom>
            <a:solidFill>
              <a:srgbClr val="DFB7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4857750" y="5267324"/>
              <a:ext cx="6000750" cy="485775"/>
            </a:xfrm>
            <a:custGeom>
              <a:avLst/>
              <a:gdLst/>
              <a:ahLst/>
              <a:cxnLst/>
              <a:rect l="l" t="t" r="r" b="b"/>
              <a:pathLst>
                <a:path w="6000750" h="485775">
                  <a:moveTo>
                    <a:pt x="6000750" y="281863"/>
                  </a:moveTo>
                  <a:lnTo>
                    <a:pt x="5981408" y="242646"/>
                  </a:lnTo>
                  <a:lnTo>
                    <a:pt x="5947486" y="228600"/>
                  </a:lnTo>
                  <a:lnTo>
                    <a:pt x="3241535" y="228600"/>
                  </a:lnTo>
                  <a:lnTo>
                    <a:pt x="3241459" y="226999"/>
                  </a:lnTo>
                  <a:lnTo>
                    <a:pt x="3235629" y="187706"/>
                  </a:lnTo>
                  <a:lnTo>
                    <a:pt x="3220313" y="142595"/>
                  </a:lnTo>
                  <a:lnTo>
                    <a:pt x="3196501" y="101333"/>
                  </a:lnTo>
                  <a:lnTo>
                    <a:pt x="3165081" y="65519"/>
                  </a:lnTo>
                  <a:lnTo>
                    <a:pt x="3127286" y="36512"/>
                  </a:lnTo>
                  <a:lnTo>
                    <a:pt x="3084563" y="15443"/>
                  </a:lnTo>
                  <a:lnTo>
                    <a:pt x="3038538" y="3111"/>
                  </a:lnTo>
                  <a:lnTo>
                    <a:pt x="3006915" y="0"/>
                  </a:lnTo>
                  <a:lnTo>
                    <a:pt x="2991002" y="0"/>
                  </a:lnTo>
                  <a:lnTo>
                    <a:pt x="2943771" y="6223"/>
                  </a:lnTo>
                  <a:lnTo>
                    <a:pt x="2898660" y="21539"/>
                  </a:lnTo>
                  <a:lnTo>
                    <a:pt x="2857411" y="45351"/>
                  </a:lnTo>
                  <a:lnTo>
                    <a:pt x="2821584" y="76758"/>
                  </a:lnTo>
                  <a:lnTo>
                    <a:pt x="2792590" y="114566"/>
                  </a:lnTo>
                  <a:lnTo>
                    <a:pt x="2771521" y="157289"/>
                  </a:lnTo>
                  <a:lnTo>
                    <a:pt x="2759189" y="203301"/>
                  </a:lnTo>
                  <a:lnTo>
                    <a:pt x="2756382" y="228600"/>
                  </a:lnTo>
                  <a:lnTo>
                    <a:pt x="53263" y="228600"/>
                  </a:lnTo>
                  <a:lnTo>
                    <a:pt x="14046" y="247942"/>
                  </a:lnTo>
                  <a:lnTo>
                    <a:pt x="0" y="281863"/>
                  </a:lnTo>
                  <a:lnTo>
                    <a:pt x="0" y="304800"/>
                  </a:lnTo>
                  <a:lnTo>
                    <a:pt x="2763964" y="304800"/>
                  </a:lnTo>
                  <a:lnTo>
                    <a:pt x="2764218" y="305777"/>
                  </a:lnTo>
                  <a:lnTo>
                    <a:pt x="2777604" y="343192"/>
                  </a:lnTo>
                  <a:lnTo>
                    <a:pt x="2801429" y="384441"/>
                  </a:lnTo>
                  <a:lnTo>
                    <a:pt x="2832836" y="420255"/>
                  </a:lnTo>
                  <a:lnTo>
                    <a:pt x="2870631" y="449262"/>
                  </a:lnTo>
                  <a:lnTo>
                    <a:pt x="2913354" y="470331"/>
                  </a:lnTo>
                  <a:lnTo>
                    <a:pt x="2959379" y="482663"/>
                  </a:lnTo>
                  <a:lnTo>
                    <a:pt x="2991002" y="485775"/>
                  </a:lnTo>
                  <a:lnTo>
                    <a:pt x="3006915" y="485775"/>
                  </a:lnTo>
                  <a:lnTo>
                    <a:pt x="3054146" y="479552"/>
                  </a:lnTo>
                  <a:lnTo>
                    <a:pt x="3099257" y="464248"/>
                  </a:lnTo>
                  <a:lnTo>
                    <a:pt x="3140519" y="440423"/>
                  </a:lnTo>
                  <a:lnTo>
                    <a:pt x="3176333" y="409003"/>
                  </a:lnTo>
                  <a:lnTo>
                    <a:pt x="3205340" y="371221"/>
                  </a:lnTo>
                  <a:lnTo>
                    <a:pt x="3226409" y="328485"/>
                  </a:lnTo>
                  <a:lnTo>
                    <a:pt x="3233940" y="304800"/>
                  </a:lnTo>
                  <a:lnTo>
                    <a:pt x="6000750" y="304800"/>
                  </a:lnTo>
                  <a:lnTo>
                    <a:pt x="6000750" y="281863"/>
                  </a:lnTo>
                  <a:close/>
                </a:path>
              </a:pathLst>
            </a:custGeom>
            <a:solidFill>
              <a:srgbClr val="DA1B2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 descr=""/>
          <p:cNvSpPr txBox="1"/>
          <p:nvPr/>
        </p:nvSpPr>
        <p:spPr>
          <a:xfrm>
            <a:off x="7784185" y="5363971"/>
            <a:ext cx="147955" cy="26035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500" spc="-50" b="1">
                <a:solidFill>
                  <a:srgbClr val="FFFFFF"/>
                </a:solidFill>
                <a:latin typeface="Verdana"/>
                <a:cs typeface="Verdana"/>
              </a:rPr>
              <a:t>3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5025428" y="5888037"/>
            <a:ext cx="4540250" cy="62484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140" b="1">
                <a:solidFill>
                  <a:srgbClr val="3B3434"/>
                </a:solidFill>
                <a:latin typeface="Verdana"/>
                <a:cs typeface="Verdana"/>
              </a:rPr>
              <a:t>3.</a:t>
            </a:r>
            <a:r>
              <a:rPr dirty="0" sz="1650" spc="-145" b="1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1650" spc="-45" b="1">
                <a:solidFill>
                  <a:srgbClr val="3B3434"/>
                </a:solidFill>
                <a:latin typeface="Verdana"/>
                <a:cs typeface="Verdana"/>
              </a:rPr>
              <a:t>Rabattpolitik</a:t>
            </a:r>
            <a:r>
              <a:rPr dirty="0" sz="1650" spc="-140" b="1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1650" spc="-10" b="1">
                <a:solidFill>
                  <a:srgbClr val="3B3434"/>
                </a:solidFill>
                <a:latin typeface="Verdana"/>
                <a:cs typeface="Verdana"/>
              </a:rPr>
              <a:t>prüfen</a:t>
            </a:r>
            <a:endParaRPr sz="16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195"/>
              </a:spcBef>
            </a:pPr>
            <a:r>
              <a:rPr dirty="0" sz="1250" spc="10">
                <a:solidFill>
                  <a:srgbClr val="3B3434"/>
                </a:solidFill>
                <a:latin typeface="Verdana"/>
                <a:cs typeface="Verdana"/>
              </a:rPr>
              <a:t>Balance</a:t>
            </a:r>
            <a:r>
              <a:rPr dirty="0" sz="1250" spc="-25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1250" spc="10">
                <a:solidFill>
                  <a:srgbClr val="3B3434"/>
                </a:solidFill>
                <a:latin typeface="Verdana"/>
                <a:cs typeface="Verdana"/>
              </a:rPr>
              <a:t>zwischen</a:t>
            </a:r>
            <a:r>
              <a:rPr dirty="0" sz="1250" spc="-2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1250" spc="10">
                <a:solidFill>
                  <a:srgbClr val="3B3434"/>
                </a:solidFill>
                <a:latin typeface="Verdana"/>
                <a:cs typeface="Verdana"/>
              </a:rPr>
              <a:t>Umsatzsteigerung</a:t>
            </a:r>
            <a:r>
              <a:rPr dirty="0" sz="1250" spc="-2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1250" spc="10">
                <a:solidFill>
                  <a:srgbClr val="3B3434"/>
                </a:solidFill>
                <a:latin typeface="Verdana"/>
                <a:cs typeface="Verdana"/>
              </a:rPr>
              <a:t>und</a:t>
            </a:r>
            <a:r>
              <a:rPr dirty="0" sz="1250" spc="-2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Verdana"/>
                <a:cs typeface="Verdana"/>
              </a:rPr>
              <a:t>Margenschutz</a:t>
            </a:r>
            <a:endParaRPr sz="1250">
              <a:latin typeface="Verdana"/>
              <a:cs typeface="Verdana"/>
            </a:endParaRPr>
          </a:p>
        </p:txBody>
      </p:sp>
      <p:grpSp>
        <p:nvGrpSpPr>
          <p:cNvPr id="19" name="object 19" descr=""/>
          <p:cNvGrpSpPr/>
          <p:nvPr/>
        </p:nvGrpSpPr>
        <p:grpSpPr>
          <a:xfrm>
            <a:off x="4857749" y="6886575"/>
            <a:ext cx="6000750" cy="1724025"/>
            <a:chOff x="4857749" y="6886575"/>
            <a:chExt cx="6000750" cy="1724025"/>
          </a:xfrm>
        </p:grpSpPr>
        <p:sp>
          <p:nvSpPr>
            <p:cNvPr id="20" name="object 20" descr=""/>
            <p:cNvSpPr/>
            <p:nvPr/>
          </p:nvSpPr>
          <p:spPr>
            <a:xfrm>
              <a:off x="4857737" y="7135075"/>
              <a:ext cx="6000750" cy="1475740"/>
            </a:xfrm>
            <a:custGeom>
              <a:avLst/>
              <a:gdLst/>
              <a:ahLst/>
              <a:cxnLst/>
              <a:rect l="l" t="t" r="r" b="b"/>
              <a:pathLst>
                <a:path w="6000750" h="1475740">
                  <a:moveTo>
                    <a:pt x="6000750" y="75361"/>
                  </a:moveTo>
                  <a:lnTo>
                    <a:pt x="5987923" y="33020"/>
                  </a:lnTo>
                  <a:lnTo>
                    <a:pt x="5953709" y="4965"/>
                  </a:lnTo>
                  <a:lnTo>
                    <a:pt x="5935319" y="0"/>
                  </a:lnTo>
                  <a:lnTo>
                    <a:pt x="5939421" y="1092"/>
                  </a:lnTo>
                  <a:lnTo>
                    <a:pt x="5953417" y="8826"/>
                  </a:lnTo>
                  <a:lnTo>
                    <a:pt x="5977344" y="46202"/>
                  </a:lnTo>
                  <a:lnTo>
                    <a:pt x="5981700" y="75361"/>
                  </a:lnTo>
                  <a:lnTo>
                    <a:pt x="5981700" y="1418526"/>
                  </a:lnTo>
                  <a:lnTo>
                    <a:pt x="5970067" y="1445806"/>
                  </a:lnTo>
                  <a:lnTo>
                    <a:pt x="5964745" y="1450225"/>
                  </a:lnTo>
                  <a:lnTo>
                    <a:pt x="5958319" y="1453705"/>
                  </a:lnTo>
                  <a:lnTo>
                    <a:pt x="5951321" y="1455788"/>
                  </a:lnTo>
                  <a:lnTo>
                    <a:pt x="5943739" y="1456486"/>
                  </a:lnTo>
                  <a:lnTo>
                    <a:pt x="57010" y="1456486"/>
                  </a:lnTo>
                  <a:lnTo>
                    <a:pt x="21831" y="1433093"/>
                  </a:lnTo>
                  <a:lnTo>
                    <a:pt x="19050" y="1418526"/>
                  </a:lnTo>
                  <a:lnTo>
                    <a:pt x="19050" y="75361"/>
                  </a:lnTo>
                  <a:lnTo>
                    <a:pt x="28676" y="33020"/>
                  </a:lnTo>
                  <a:lnTo>
                    <a:pt x="61328" y="1092"/>
                  </a:lnTo>
                  <a:lnTo>
                    <a:pt x="65443" y="0"/>
                  </a:lnTo>
                  <a:lnTo>
                    <a:pt x="61341" y="609"/>
                  </a:lnTo>
                  <a:lnTo>
                    <a:pt x="22313" y="21475"/>
                  </a:lnTo>
                  <a:lnTo>
                    <a:pt x="1460" y="60490"/>
                  </a:lnTo>
                  <a:lnTo>
                    <a:pt x="0" y="75361"/>
                  </a:lnTo>
                  <a:lnTo>
                    <a:pt x="0" y="1426095"/>
                  </a:lnTo>
                  <a:lnTo>
                    <a:pt x="1447" y="1433360"/>
                  </a:lnTo>
                  <a:lnTo>
                    <a:pt x="7239" y="1447330"/>
                  </a:lnTo>
                  <a:lnTo>
                    <a:pt x="11353" y="1453489"/>
                  </a:lnTo>
                  <a:lnTo>
                    <a:pt x="16700" y="1458836"/>
                  </a:lnTo>
                  <a:lnTo>
                    <a:pt x="22047" y="1464183"/>
                  </a:lnTo>
                  <a:lnTo>
                    <a:pt x="28206" y="1468297"/>
                  </a:lnTo>
                  <a:lnTo>
                    <a:pt x="42176" y="1474089"/>
                  </a:lnTo>
                  <a:lnTo>
                    <a:pt x="49441" y="1475536"/>
                  </a:lnTo>
                  <a:lnTo>
                    <a:pt x="5951296" y="1475536"/>
                  </a:lnTo>
                  <a:lnTo>
                    <a:pt x="5958573" y="1474089"/>
                  </a:lnTo>
                  <a:lnTo>
                    <a:pt x="5972543" y="1468297"/>
                  </a:lnTo>
                  <a:lnTo>
                    <a:pt x="5978703" y="1464183"/>
                  </a:lnTo>
                  <a:lnTo>
                    <a:pt x="5983579" y="1459306"/>
                  </a:lnTo>
                  <a:lnTo>
                    <a:pt x="5984049" y="1458836"/>
                  </a:lnTo>
                  <a:lnTo>
                    <a:pt x="5989396" y="1453489"/>
                  </a:lnTo>
                  <a:lnTo>
                    <a:pt x="5993511" y="1447330"/>
                  </a:lnTo>
                  <a:lnTo>
                    <a:pt x="5999302" y="1433360"/>
                  </a:lnTo>
                  <a:lnTo>
                    <a:pt x="6000750" y="1426095"/>
                  </a:lnTo>
                  <a:lnTo>
                    <a:pt x="6000750" y="75361"/>
                  </a:lnTo>
                  <a:close/>
                </a:path>
              </a:pathLst>
            </a:custGeom>
            <a:solidFill>
              <a:srgbClr val="DFB7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4857750" y="6886574"/>
              <a:ext cx="6000750" cy="495300"/>
            </a:xfrm>
            <a:custGeom>
              <a:avLst/>
              <a:gdLst/>
              <a:ahLst/>
              <a:cxnLst/>
              <a:rect l="l" t="t" r="r" b="b"/>
              <a:pathLst>
                <a:path w="6000750" h="495300">
                  <a:moveTo>
                    <a:pt x="6000750" y="281863"/>
                  </a:moveTo>
                  <a:lnTo>
                    <a:pt x="5981408" y="242658"/>
                  </a:lnTo>
                  <a:lnTo>
                    <a:pt x="5947486" y="228600"/>
                  </a:lnTo>
                  <a:lnTo>
                    <a:pt x="3241535" y="228600"/>
                  </a:lnTo>
                  <a:lnTo>
                    <a:pt x="3241459" y="226999"/>
                  </a:lnTo>
                  <a:lnTo>
                    <a:pt x="3235629" y="187706"/>
                  </a:lnTo>
                  <a:lnTo>
                    <a:pt x="3220313" y="142595"/>
                  </a:lnTo>
                  <a:lnTo>
                    <a:pt x="3196501" y="101333"/>
                  </a:lnTo>
                  <a:lnTo>
                    <a:pt x="3165081" y="65519"/>
                  </a:lnTo>
                  <a:lnTo>
                    <a:pt x="3127286" y="36512"/>
                  </a:lnTo>
                  <a:lnTo>
                    <a:pt x="3084563" y="15443"/>
                  </a:lnTo>
                  <a:lnTo>
                    <a:pt x="3038538" y="3111"/>
                  </a:lnTo>
                  <a:lnTo>
                    <a:pt x="3006915" y="0"/>
                  </a:lnTo>
                  <a:lnTo>
                    <a:pt x="2991002" y="0"/>
                  </a:lnTo>
                  <a:lnTo>
                    <a:pt x="2943771" y="6223"/>
                  </a:lnTo>
                  <a:lnTo>
                    <a:pt x="2898660" y="21539"/>
                  </a:lnTo>
                  <a:lnTo>
                    <a:pt x="2857411" y="45351"/>
                  </a:lnTo>
                  <a:lnTo>
                    <a:pt x="2821584" y="76758"/>
                  </a:lnTo>
                  <a:lnTo>
                    <a:pt x="2792590" y="114566"/>
                  </a:lnTo>
                  <a:lnTo>
                    <a:pt x="2771521" y="157302"/>
                  </a:lnTo>
                  <a:lnTo>
                    <a:pt x="2759189" y="203314"/>
                  </a:lnTo>
                  <a:lnTo>
                    <a:pt x="2756382" y="228600"/>
                  </a:lnTo>
                  <a:lnTo>
                    <a:pt x="53263" y="228600"/>
                  </a:lnTo>
                  <a:lnTo>
                    <a:pt x="14046" y="247942"/>
                  </a:lnTo>
                  <a:lnTo>
                    <a:pt x="0" y="281863"/>
                  </a:lnTo>
                  <a:lnTo>
                    <a:pt x="0" y="304800"/>
                  </a:lnTo>
                  <a:lnTo>
                    <a:pt x="2761742" y="304800"/>
                  </a:lnTo>
                  <a:lnTo>
                    <a:pt x="2762300" y="307594"/>
                  </a:lnTo>
                  <a:lnTo>
                    <a:pt x="2777604" y="352717"/>
                  </a:lnTo>
                  <a:lnTo>
                    <a:pt x="2801429" y="393966"/>
                  </a:lnTo>
                  <a:lnTo>
                    <a:pt x="2832836" y="429780"/>
                  </a:lnTo>
                  <a:lnTo>
                    <a:pt x="2870631" y="458787"/>
                  </a:lnTo>
                  <a:lnTo>
                    <a:pt x="2913354" y="479856"/>
                  </a:lnTo>
                  <a:lnTo>
                    <a:pt x="2959379" y="492188"/>
                  </a:lnTo>
                  <a:lnTo>
                    <a:pt x="2991002" y="495300"/>
                  </a:lnTo>
                  <a:lnTo>
                    <a:pt x="3006915" y="495300"/>
                  </a:lnTo>
                  <a:lnTo>
                    <a:pt x="3054146" y="489089"/>
                  </a:lnTo>
                  <a:lnTo>
                    <a:pt x="3099257" y="473773"/>
                  </a:lnTo>
                  <a:lnTo>
                    <a:pt x="3140519" y="449948"/>
                  </a:lnTo>
                  <a:lnTo>
                    <a:pt x="3176333" y="418528"/>
                  </a:lnTo>
                  <a:lnTo>
                    <a:pt x="3205340" y="380746"/>
                  </a:lnTo>
                  <a:lnTo>
                    <a:pt x="3226409" y="338010"/>
                  </a:lnTo>
                  <a:lnTo>
                    <a:pt x="3236176" y="304800"/>
                  </a:lnTo>
                  <a:lnTo>
                    <a:pt x="6000750" y="304800"/>
                  </a:lnTo>
                  <a:lnTo>
                    <a:pt x="6000750" y="281863"/>
                  </a:lnTo>
                  <a:close/>
                </a:path>
              </a:pathLst>
            </a:custGeom>
            <a:solidFill>
              <a:srgbClr val="DA1B2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 descr=""/>
          <p:cNvSpPr txBox="1"/>
          <p:nvPr/>
        </p:nvSpPr>
        <p:spPr>
          <a:xfrm>
            <a:off x="7780604" y="6992746"/>
            <a:ext cx="154940" cy="26035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500" spc="-50" b="1">
                <a:solidFill>
                  <a:srgbClr val="FFFFFF"/>
                </a:solidFill>
                <a:latin typeface="Verdana"/>
                <a:cs typeface="Verdana"/>
              </a:rPr>
              <a:t>4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4843556" y="7516812"/>
            <a:ext cx="5826760" cy="202501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94310">
              <a:lnSpc>
                <a:spcPct val="100000"/>
              </a:lnSpc>
              <a:spcBef>
                <a:spcPts val="135"/>
              </a:spcBef>
            </a:pPr>
            <a:r>
              <a:rPr dirty="0" sz="1650" spc="-114" b="1">
                <a:solidFill>
                  <a:srgbClr val="3B3434"/>
                </a:solidFill>
                <a:latin typeface="Verdana"/>
                <a:cs typeface="Verdana"/>
              </a:rPr>
              <a:t>4.</a:t>
            </a:r>
            <a:r>
              <a:rPr dirty="0" sz="1650" spc="-140" b="1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1650" spc="-55" b="1">
                <a:solidFill>
                  <a:srgbClr val="3B3434"/>
                </a:solidFill>
                <a:latin typeface="Verdana"/>
                <a:cs typeface="Verdana"/>
              </a:rPr>
              <a:t>Produktpositionierung</a:t>
            </a:r>
            <a:r>
              <a:rPr dirty="0" sz="1650" spc="-135" b="1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1650" spc="75" b="1">
                <a:solidFill>
                  <a:srgbClr val="3B3434"/>
                </a:solidFill>
                <a:latin typeface="Verdana"/>
                <a:cs typeface="Verdana"/>
              </a:rPr>
              <a:t>T</a:t>
            </a:r>
            <a:r>
              <a:rPr dirty="0" sz="1650" spc="-140" b="1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1650" spc="-90" b="1">
                <a:solidFill>
                  <a:srgbClr val="3B3434"/>
                </a:solidFill>
                <a:latin typeface="Verdana"/>
                <a:cs typeface="Verdana"/>
              </a:rPr>
              <a:t>Zielgr.</a:t>
            </a:r>
            <a:r>
              <a:rPr dirty="0" sz="1650" spc="-135" b="1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1650" spc="-10" b="1">
                <a:solidFill>
                  <a:srgbClr val="3B3434"/>
                </a:solidFill>
                <a:latin typeface="Verdana"/>
                <a:cs typeface="Verdana"/>
              </a:rPr>
              <a:t>Marketing</a:t>
            </a:r>
            <a:endParaRPr sz="1650">
              <a:latin typeface="Verdana"/>
              <a:cs typeface="Verdana"/>
            </a:endParaRPr>
          </a:p>
          <a:p>
            <a:pPr marL="194310" marR="45085">
              <a:lnSpc>
                <a:spcPct val="140000"/>
              </a:lnSpc>
              <a:spcBef>
                <a:spcPts val="520"/>
              </a:spcBef>
            </a:pPr>
            <a:r>
              <a:rPr dirty="0" sz="1250">
                <a:solidFill>
                  <a:srgbClr val="3B3434"/>
                </a:solidFill>
                <a:latin typeface="Verdana"/>
                <a:cs typeface="Verdana"/>
              </a:rPr>
              <a:t>Hervorhebung</a:t>
            </a:r>
            <a:r>
              <a:rPr dirty="0" sz="1250" spc="11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1250">
                <a:solidFill>
                  <a:srgbClr val="3B3434"/>
                </a:solidFill>
                <a:latin typeface="Verdana"/>
                <a:cs typeface="Verdana"/>
              </a:rPr>
              <a:t>bestb</a:t>
            </a:r>
            <a:r>
              <a:rPr dirty="0" sz="1250" spc="-5">
                <a:solidFill>
                  <a:srgbClr val="3B3434"/>
                </a:solidFill>
                <a:latin typeface="Verdana"/>
                <a:cs typeface="Verdana"/>
              </a:rPr>
              <a:t>e</a:t>
            </a:r>
            <a:r>
              <a:rPr dirty="0" sz="1250" spc="-10">
                <a:solidFill>
                  <a:srgbClr val="3B3434"/>
                </a:solidFill>
                <a:latin typeface="Verdana"/>
                <a:cs typeface="Verdana"/>
              </a:rPr>
              <a:t>w</a:t>
            </a:r>
            <a:r>
              <a:rPr dirty="0" sz="1250">
                <a:solidFill>
                  <a:srgbClr val="3B3434"/>
                </a:solidFill>
                <a:latin typeface="Verdana"/>
                <a:cs typeface="Verdana"/>
              </a:rPr>
              <a:t>e</a:t>
            </a:r>
            <a:r>
              <a:rPr dirty="0" sz="1250" spc="15">
                <a:solidFill>
                  <a:srgbClr val="3B3434"/>
                </a:solidFill>
                <a:latin typeface="Verdana"/>
                <a:cs typeface="Verdana"/>
              </a:rPr>
              <a:t>r</a:t>
            </a:r>
            <a:r>
              <a:rPr dirty="0" sz="1250" spc="-5">
                <a:solidFill>
                  <a:srgbClr val="3B3434"/>
                </a:solidFill>
                <a:latin typeface="Verdana"/>
                <a:cs typeface="Verdana"/>
              </a:rPr>
              <a:t>t</a:t>
            </a:r>
            <a:r>
              <a:rPr dirty="0" sz="1250">
                <a:solidFill>
                  <a:srgbClr val="3B3434"/>
                </a:solidFill>
                <a:latin typeface="Verdana"/>
                <a:cs typeface="Verdana"/>
              </a:rPr>
              <a:t>e</a:t>
            </a:r>
            <a:r>
              <a:rPr dirty="0" sz="1250" spc="-5">
                <a:solidFill>
                  <a:srgbClr val="3B3434"/>
                </a:solidFill>
                <a:latin typeface="Verdana"/>
                <a:cs typeface="Verdana"/>
              </a:rPr>
              <a:t>t</a:t>
            </a:r>
            <a:r>
              <a:rPr dirty="0" sz="1250">
                <a:solidFill>
                  <a:srgbClr val="3B3434"/>
                </a:solidFill>
                <a:latin typeface="Verdana"/>
                <a:cs typeface="Verdana"/>
              </a:rPr>
              <a:t>e</a:t>
            </a:r>
            <a:r>
              <a:rPr dirty="0" sz="1250" spc="-10">
                <a:solidFill>
                  <a:srgbClr val="3B3434"/>
                </a:solidFill>
                <a:latin typeface="Verdana"/>
                <a:cs typeface="Verdana"/>
              </a:rPr>
              <a:t>r</a:t>
            </a:r>
            <a:r>
              <a:rPr dirty="0" sz="1250" spc="-5">
                <a:solidFill>
                  <a:srgbClr val="3B3434"/>
                </a:solidFill>
                <a:latin typeface="Verdana"/>
                <a:cs typeface="Verdana"/>
              </a:rPr>
              <a:t>/t</a:t>
            </a:r>
            <a:r>
              <a:rPr dirty="0" sz="1250">
                <a:solidFill>
                  <a:srgbClr val="3B3434"/>
                </a:solidFill>
                <a:latin typeface="Verdana"/>
                <a:cs typeface="Verdana"/>
              </a:rPr>
              <a:t>op</a:t>
            </a:r>
            <a:r>
              <a:rPr dirty="0" sz="100">
                <a:solidFill>
                  <a:srgbClr val="3B3434"/>
                </a:solidFill>
                <a:latin typeface="Ink Free"/>
                <a:cs typeface="Ink Free"/>
              </a:rPr>
              <a:t>-</a:t>
            </a:r>
            <a:r>
              <a:rPr dirty="0" sz="1250" spc="-35">
                <a:solidFill>
                  <a:srgbClr val="3B3434"/>
                </a:solidFill>
                <a:latin typeface="Verdana"/>
                <a:cs typeface="Verdana"/>
              </a:rPr>
              <a:t>Verkäufe;</a:t>
            </a:r>
            <a:r>
              <a:rPr dirty="0" sz="1250" spc="114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1250">
                <a:solidFill>
                  <a:srgbClr val="3B3434"/>
                </a:solidFill>
                <a:latin typeface="Verdana"/>
                <a:cs typeface="Verdana"/>
              </a:rPr>
              <a:t>Fokus</a:t>
            </a:r>
            <a:r>
              <a:rPr dirty="0" sz="1250" spc="114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1250">
                <a:solidFill>
                  <a:srgbClr val="3B3434"/>
                </a:solidFill>
                <a:latin typeface="Verdana"/>
                <a:cs typeface="Verdana"/>
              </a:rPr>
              <a:t>auf</a:t>
            </a:r>
            <a:r>
              <a:rPr dirty="0" sz="1250" spc="114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Verdana"/>
                <a:cs typeface="Verdana"/>
              </a:rPr>
              <a:t>umsatzstarke </a:t>
            </a:r>
            <a:r>
              <a:rPr dirty="0" sz="1250">
                <a:solidFill>
                  <a:srgbClr val="3B3434"/>
                </a:solidFill>
                <a:latin typeface="Verdana"/>
                <a:cs typeface="Verdana"/>
              </a:rPr>
              <a:t>Altersgruppen</a:t>
            </a:r>
            <a:r>
              <a:rPr dirty="0" sz="1250" spc="295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1250">
                <a:solidFill>
                  <a:srgbClr val="3B3434"/>
                </a:solidFill>
                <a:latin typeface="Verdana"/>
                <a:cs typeface="Verdana"/>
              </a:rPr>
              <a:t>und</a:t>
            </a:r>
            <a:r>
              <a:rPr dirty="0" sz="1250" spc="30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1250" spc="-5">
                <a:solidFill>
                  <a:srgbClr val="3B3434"/>
                </a:solidFill>
                <a:latin typeface="Verdana"/>
                <a:cs typeface="Verdana"/>
              </a:rPr>
              <a:t>Ex</a:t>
            </a:r>
            <a:r>
              <a:rPr dirty="0" sz="1250">
                <a:solidFill>
                  <a:srgbClr val="3B3434"/>
                </a:solidFill>
                <a:latin typeface="Verdana"/>
                <a:cs typeface="Verdana"/>
              </a:rPr>
              <a:t>p</a:t>
            </a:r>
            <a:r>
              <a:rPr dirty="0" sz="1250" spc="-10">
                <a:solidFill>
                  <a:srgbClr val="3B3434"/>
                </a:solidFill>
                <a:latin typeface="Verdana"/>
                <a:cs typeface="Verdana"/>
              </a:rPr>
              <a:t>r</a:t>
            </a:r>
            <a:r>
              <a:rPr dirty="0" sz="1250">
                <a:solidFill>
                  <a:srgbClr val="3B3434"/>
                </a:solidFill>
                <a:latin typeface="Verdana"/>
                <a:cs typeface="Verdana"/>
              </a:rPr>
              <a:t>ess</a:t>
            </a:r>
            <a:r>
              <a:rPr dirty="0" sz="100">
                <a:solidFill>
                  <a:srgbClr val="3B3434"/>
                </a:solidFill>
                <a:latin typeface="Ink Free"/>
                <a:cs typeface="Ink Free"/>
              </a:rPr>
              <a:t>-</a:t>
            </a:r>
            <a:r>
              <a:rPr dirty="0" sz="1250" spc="-40">
                <a:solidFill>
                  <a:srgbClr val="3B3434"/>
                </a:solidFill>
                <a:latin typeface="Verdana"/>
                <a:cs typeface="Verdana"/>
              </a:rPr>
              <a:t>V</a:t>
            </a:r>
            <a:r>
              <a:rPr dirty="0" sz="1250" spc="5">
                <a:solidFill>
                  <a:srgbClr val="3B3434"/>
                </a:solidFill>
                <a:latin typeface="Verdana"/>
                <a:cs typeface="Verdana"/>
              </a:rPr>
              <a:t>e</a:t>
            </a:r>
            <a:r>
              <a:rPr dirty="0" sz="1250">
                <a:solidFill>
                  <a:srgbClr val="3B3434"/>
                </a:solidFill>
                <a:latin typeface="Verdana"/>
                <a:cs typeface="Verdana"/>
              </a:rPr>
              <a:t>r</a:t>
            </a:r>
            <a:r>
              <a:rPr dirty="0" sz="1250" spc="5">
                <a:solidFill>
                  <a:srgbClr val="3B3434"/>
                </a:solidFill>
                <a:latin typeface="Verdana"/>
                <a:cs typeface="Verdana"/>
              </a:rPr>
              <a:t>s</a:t>
            </a:r>
            <a:r>
              <a:rPr dirty="0" sz="1250">
                <a:solidFill>
                  <a:srgbClr val="3B3434"/>
                </a:solidFill>
                <a:latin typeface="Verdana"/>
                <a:cs typeface="Verdana"/>
              </a:rPr>
              <a:t>a</a:t>
            </a:r>
            <a:r>
              <a:rPr dirty="0" sz="1250" spc="5">
                <a:solidFill>
                  <a:srgbClr val="3B3434"/>
                </a:solidFill>
                <a:latin typeface="Verdana"/>
                <a:cs typeface="Verdana"/>
              </a:rPr>
              <a:t>nd</a:t>
            </a:r>
            <a:r>
              <a:rPr dirty="0" sz="100" spc="5">
                <a:solidFill>
                  <a:srgbClr val="3B3434"/>
                </a:solidFill>
                <a:latin typeface="Ink Free"/>
                <a:cs typeface="Ink Free"/>
              </a:rPr>
              <a:t>-</a:t>
            </a:r>
            <a:r>
              <a:rPr dirty="0" sz="1250" spc="-10">
                <a:solidFill>
                  <a:srgbClr val="3B3434"/>
                </a:solidFill>
                <a:latin typeface="Verdana"/>
                <a:cs typeface="Verdana"/>
              </a:rPr>
              <a:t>Nutzer</a:t>
            </a:r>
            <a:endParaRPr sz="12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295"/>
              </a:spcBef>
            </a:pPr>
            <a:endParaRPr sz="1250">
              <a:latin typeface="Verdana"/>
              <a:cs typeface="Verdana"/>
            </a:endParaRPr>
          </a:p>
          <a:p>
            <a:pPr marL="12700" marR="5080">
              <a:lnSpc>
                <a:spcPct val="137500"/>
              </a:lnSpc>
            </a:pPr>
            <a:r>
              <a:rPr dirty="0" sz="1250" spc="-10">
                <a:solidFill>
                  <a:srgbClr val="3B3434"/>
                </a:solidFill>
                <a:latin typeface="Verdana"/>
                <a:cs typeface="Verdana"/>
              </a:rPr>
              <a:t>Interaktives</a:t>
            </a:r>
            <a:r>
              <a:rPr dirty="0" sz="1250" spc="-45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1250">
                <a:solidFill>
                  <a:srgbClr val="3B3434"/>
                </a:solidFill>
                <a:latin typeface="Verdana"/>
                <a:cs typeface="Verdana"/>
              </a:rPr>
              <a:t>Power</a:t>
            </a:r>
            <a:r>
              <a:rPr dirty="0" sz="1250" spc="-45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1250" spc="-75">
                <a:solidFill>
                  <a:srgbClr val="3B3434"/>
                </a:solidFill>
                <a:latin typeface="Verdana"/>
                <a:cs typeface="Verdana"/>
              </a:rPr>
              <a:t>BI</a:t>
            </a:r>
            <a:r>
              <a:rPr dirty="0" sz="1250" spc="-45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1250">
                <a:solidFill>
                  <a:srgbClr val="3B3434"/>
                </a:solidFill>
                <a:latin typeface="Verdana"/>
                <a:cs typeface="Verdana"/>
              </a:rPr>
              <a:t>Dashboard</a:t>
            </a:r>
            <a:r>
              <a:rPr dirty="0" sz="1250" spc="-45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Verdana"/>
                <a:cs typeface="Verdana"/>
              </a:rPr>
              <a:t>(oben)</a:t>
            </a:r>
            <a:r>
              <a:rPr dirty="0" sz="1250" spc="-45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1250">
                <a:solidFill>
                  <a:srgbClr val="3B3434"/>
                </a:solidFill>
                <a:latin typeface="Verdana"/>
                <a:cs typeface="Verdana"/>
              </a:rPr>
              <a:t>visualisiert</a:t>
            </a:r>
            <a:r>
              <a:rPr dirty="0" sz="1250" spc="-45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1250" spc="-75">
                <a:solidFill>
                  <a:srgbClr val="3B3434"/>
                </a:solidFill>
                <a:latin typeface="Verdana"/>
                <a:cs typeface="Verdana"/>
              </a:rPr>
              <a:t>KPIs:</a:t>
            </a:r>
            <a:r>
              <a:rPr dirty="0" sz="1250" spc="-45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1250">
                <a:solidFill>
                  <a:srgbClr val="3B3434"/>
                </a:solidFill>
                <a:latin typeface="Verdana"/>
                <a:cs typeface="Verdana"/>
              </a:rPr>
              <a:t>Anzahl</a:t>
            </a:r>
            <a:r>
              <a:rPr dirty="0" sz="1250" spc="-45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Verdana"/>
                <a:cs typeface="Verdana"/>
              </a:rPr>
              <a:t>Kunden </a:t>
            </a:r>
            <a:r>
              <a:rPr dirty="0" sz="1250" spc="-60">
                <a:solidFill>
                  <a:srgbClr val="3B3434"/>
                </a:solidFill>
                <a:latin typeface="Verdana"/>
                <a:cs typeface="Verdana"/>
              </a:rPr>
              <a:t>3,9K,</a:t>
            </a:r>
            <a:r>
              <a:rPr dirty="0" sz="1250" spc="-85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1250" spc="114">
                <a:solidFill>
                  <a:srgbClr val="3B3434"/>
                </a:solidFill>
                <a:latin typeface="Verdana"/>
                <a:cs typeface="Verdana"/>
              </a:rPr>
              <a:t>Ø</a:t>
            </a:r>
            <a:r>
              <a:rPr dirty="0" sz="1250" spc="-85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1250">
                <a:solidFill>
                  <a:srgbClr val="3B3434"/>
                </a:solidFill>
                <a:latin typeface="Verdana"/>
                <a:cs typeface="Verdana"/>
              </a:rPr>
              <a:t>Purchase</a:t>
            </a:r>
            <a:r>
              <a:rPr dirty="0" sz="1250" spc="-85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1250" spc="-40">
                <a:solidFill>
                  <a:srgbClr val="3B3434"/>
                </a:solidFill>
                <a:latin typeface="Verdana"/>
                <a:cs typeface="Verdana"/>
              </a:rPr>
              <a:t>59,76</a:t>
            </a:r>
            <a:r>
              <a:rPr dirty="0" sz="1250" spc="-85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1250" spc="-65">
                <a:solidFill>
                  <a:srgbClr val="3B3434"/>
                </a:solidFill>
                <a:latin typeface="Verdana"/>
                <a:cs typeface="Verdana"/>
              </a:rPr>
              <a:t>C,</a:t>
            </a:r>
            <a:r>
              <a:rPr dirty="0" sz="1250" spc="-85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1250">
                <a:solidFill>
                  <a:srgbClr val="3B3434"/>
                </a:solidFill>
                <a:latin typeface="Verdana"/>
                <a:cs typeface="Verdana"/>
              </a:rPr>
              <a:t>Avg</a:t>
            </a:r>
            <a:r>
              <a:rPr dirty="0" sz="1250" spc="-85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1250">
                <a:solidFill>
                  <a:srgbClr val="3B3434"/>
                </a:solidFill>
                <a:latin typeface="Verdana"/>
                <a:cs typeface="Verdana"/>
              </a:rPr>
              <a:t>Rating</a:t>
            </a:r>
            <a:r>
              <a:rPr dirty="0" sz="1250" spc="-85">
                <a:solidFill>
                  <a:srgbClr val="3B3434"/>
                </a:solidFill>
                <a:latin typeface="Verdana"/>
                <a:cs typeface="Verdana"/>
              </a:rPr>
              <a:t> 3,75, </a:t>
            </a:r>
            <a:r>
              <a:rPr dirty="0" sz="1250">
                <a:solidFill>
                  <a:srgbClr val="3B3434"/>
                </a:solidFill>
                <a:latin typeface="Verdana"/>
                <a:cs typeface="Verdana"/>
              </a:rPr>
              <a:t>Revenue</a:t>
            </a:r>
            <a:r>
              <a:rPr dirty="0" sz="1250" spc="-85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1250" spc="60">
                <a:solidFill>
                  <a:srgbClr val="3B3434"/>
                </a:solidFill>
                <a:latin typeface="Verdana"/>
                <a:cs typeface="Verdana"/>
              </a:rPr>
              <a:t>€</a:t>
            </a:r>
            <a:r>
              <a:rPr dirty="0" sz="1250" spc="-85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1250">
                <a:solidFill>
                  <a:srgbClr val="3B3434"/>
                </a:solidFill>
                <a:latin typeface="Verdana"/>
                <a:cs typeface="Verdana"/>
              </a:rPr>
              <a:t>Sales</a:t>
            </a:r>
            <a:r>
              <a:rPr dirty="0" sz="1250" spc="-85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1250" spc="-20">
                <a:solidFill>
                  <a:srgbClr val="3B3434"/>
                </a:solidFill>
                <a:latin typeface="Verdana"/>
                <a:cs typeface="Verdana"/>
              </a:rPr>
              <a:t>nach </a:t>
            </a:r>
            <a:r>
              <a:rPr dirty="0" sz="1250">
                <a:solidFill>
                  <a:srgbClr val="3B3434"/>
                </a:solidFill>
                <a:latin typeface="Verdana"/>
                <a:cs typeface="Verdana"/>
              </a:rPr>
              <a:t>Kategorie</a:t>
            </a:r>
            <a:r>
              <a:rPr dirty="0" sz="1250" spc="2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1250">
                <a:solidFill>
                  <a:srgbClr val="3B3434"/>
                </a:solidFill>
                <a:latin typeface="Verdana"/>
                <a:cs typeface="Verdana"/>
              </a:rPr>
              <a:t>und</a:t>
            </a:r>
            <a:r>
              <a:rPr dirty="0" sz="1250" spc="2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dirty="0" sz="1250" spc="-10">
                <a:solidFill>
                  <a:srgbClr val="3B3434"/>
                </a:solidFill>
                <a:latin typeface="Verdana"/>
                <a:cs typeface="Verdana"/>
              </a:rPr>
              <a:t>Altersgruppe.</a:t>
            </a:r>
            <a:endParaRPr sz="1250">
              <a:latin typeface="Verdana"/>
              <a:cs typeface="Verdana"/>
            </a:endParaRPr>
          </a:p>
        </p:txBody>
      </p:sp>
      <p:pic>
        <p:nvPicPr>
          <p:cNvPr id="24" name="object 24" descr="">
            <a:hlinkClick r:id="rId3"/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580244" y="9504426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Untitled</dc:title>
  <dcterms:created xsi:type="dcterms:W3CDTF">2026-02-25T22:45:01Z</dcterms:created>
  <dcterms:modified xsi:type="dcterms:W3CDTF">2026-02-25T22:45:01Z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2026-02-20T00:00:00Z</vt:filetime>
  </property>
  <property fmtid="{D5CDD505-2E9C-101B-9397-08002B2CF9AE}" pid="3" name="Creator">
    <vt:lpwstr>pdf-lib (https://github.com/Hopding/pdf-lib)</vt:lpwstr>
  </property>
  <property fmtid="{D5CDD505-2E9C-101B-9397-08002B2CF9AE}" pid="4" name="LastSaved">
    <vt:filetime>2026-02-25T00:00:00Z</vt:filetime>
  </property>
  <property fmtid="{D5CDD505-2E9C-101B-9397-08002B2CF9AE}" pid="5" name="Producer">
    <vt:lpwstr>GPL Ghostscript 9.56.1</vt:lpwstr>
  </property>
</Properties>
</file>